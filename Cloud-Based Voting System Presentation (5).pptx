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0329" y="1307940"/>
            <a:ext cx="17583441" cy="693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16161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2699" y="2921377"/>
            <a:ext cx="10340340" cy="674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6" y="3848050"/>
            <a:ext cx="20080605" cy="683260"/>
          </a:xfrm>
          <a:custGeom>
            <a:avLst/>
            <a:gdLst/>
            <a:ahLst/>
            <a:cxnLst/>
            <a:rect l="l" t="t" r="r" b="b"/>
            <a:pathLst>
              <a:path w="20080605" h="683260">
                <a:moveTo>
                  <a:pt x="20080541" y="683225"/>
                </a:moveTo>
                <a:lnTo>
                  <a:pt x="0" y="68322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83225"/>
                </a:lnTo>
                <a:close/>
              </a:path>
            </a:pathLst>
          </a:custGeom>
          <a:solidFill>
            <a:srgbClr val="1118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80649" y="3546092"/>
            <a:ext cx="5619750" cy="1164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450" spc="65" dirty="0">
                <a:solidFill>
                  <a:srgbClr val="FFFFFF"/>
                </a:solidFill>
                <a:latin typeface="Arial"/>
                <a:cs typeface="Arial"/>
              </a:rPr>
              <a:t>Cloud-Based</a:t>
            </a:r>
            <a:endParaRPr sz="74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06" y="4790430"/>
            <a:ext cx="20080605" cy="871855"/>
          </a:xfrm>
          <a:custGeom>
            <a:avLst/>
            <a:gdLst/>
            <a:ahLst/>
            <a:cxnLst/>
            <a:rect l="l" t="t" r="r" b="b"/>
            <a:pathLst>
              <a:path w="20080605" h="871854">
                <a:moveTo>
                  <a:pt x="20080541" y="871701"/>
                </a:moveTo>
                <a:lnTo>
                  <a:pt x="0" y="87170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71701"/>
                </a:lnTo>
                <a:close/>
              </a:path>
            </a:pathLst>
          </a:custGeom>
          <a:solidFill>
            <a:srgbClr val="111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77995" y="4470801"/>
            <a:ext cx="6316345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spc="-20" dirty="0">
                <a:solidFill>
                  <a:srgbClr val="FFFFFF"/>
                </a:solidFill>
                <a:latin typeface="Arial"/>
                <a:cs typeface="Arial"/>
              </a:rPr>
              <a:t>Voting</a:t>
            </a:r>
            <a:r>
              <a:rPr sz="7850" spc="-5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850" spc="-70" dirty="0">
                <a:solidFill>
                  <a:srgbClr val="9ECCFD"/>
                </a:solidFill>
                <a:latin typeface="Arial"/>
                <a:cs typeface="Arial"/>
              </a:rPr>
              <a:t>System</a:t>
            </a:r>
            <a:endParaRPr sz="78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06" y="9172495"/>
            <a:ext cx="20080605" cy="165100"/>
          </a:xfrm>
          <a:custGeom>
            <a:avLst/>
            <a:gdLst/>
            <a:ahLst/>
            <a:cxnLst/>
            <a:rect l="l" t="t" r="r" b="b"/>
            <a:pathLst>
              <a:path w="20080605" h="165100">
                <a:moveTo>
                  <a:pt x="20080541" y="164916"/>
                </a:moveTo>
                <a:lnTo>
                  <a:pt x="0" y="16491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64916"/>
                </a:lnTo>
                <a:close/>
              </a:path>
            </a:pathLst>
          </a:custGeom>
          <a:solidFill>
            <a:srgbClr val="131A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50977" y="9129037"/>
            <a:ext cx="1601470" cy="2419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spc="55" dirty="0">
                <a:solidFill>
                  <a:srgbClr val="9CA5B8"/>
                </a:solidFill>
                <a:latin typeface="Arial"/>
                <a:cs typeface="Arial"/>
              </a:rPr>
              <a:t>F</a:t>
            </a:r>
            <a:r>
              <a:rPr sz="1400" spc="-125" dirty="0">
                <a:solidFill>
                  <a:srgbClr val="9CA5B8"/>
                </a:solidFill>
                <a:latin typeface="Arial"/>
                <a:cs typeface="Arial"/>
              </a:rPr>
              <a:t> </a:t>
            </a:r>
            <a:r>
              <a:rPr sz="1400" spc="-265" dirty="0">
                <a:solidFill>
                  <a:srgbClr val="5B6275"/>
                </a:solidFill>
                <a:latin typeface="Arial"/>
                <a:cs typeface="Arial"/>
              </a:rPr>
              <a:t>R</a:t>
            </a:r>
            <a:r>
              <a:rPr sz="1400" spc="-95" dirty="0">
                <a:solidFill>
                  <a:srgbClr val="5B6275"/>
                </a:solidFill>
                <a:latin typeface="Arial"/>
                <a:cs typeface="Arial"/>
              </a:rPr>
              <a:t> </a:t>
            </a:r>
            <a:r>
              <a:rPr sz="1400" spc="-195" dirty="0">
                <a:solidFill>
                  <a:srgbClr val="505D6E"/>
                </a:solidFill>
                <a:latin typeface="Arial"/>
                <a:cs typeface="Arial"/>
              </a:rPr>
              <a:t>E</a:t>
            </a:r>
            <a:r>
              <a:rPr sz="1400" spc="-105" dirty="0">
                <a:solidFill>
                  <a:srgbClr val="505D6E"/>
                </a:solidFill>
                <a:latin typeface="Arial"/>
                <a:cs typeface="Arial"/>
              </a:rPr>
              <a:t> </a:t>
            </a:r>
            <a:r>
              <a:rPr sz="1400" spc="-100" dirty="0">
                <a:solidFill>
                  <a:srgbClr val="03182F"/>
                </a:solidFill>
                <a:latin typeface="Arial"/>
                <a:cs typeface="Arial"/>
              </a:rPr>
              <a:t>S</a:t>
            </a:r>
            <a:r>
              <a:rPr sz="1400" spc="-110" dirty="0">
                <a:solidFill>
                  <a:srgbClr val="03182F"/>
                </a:solidFill>
                <a:latin typeface="Arial"/>
                <a:cs typeface="Arial"/>
              </a:rPr>
              <a:t> </a:t>
            </a:r>
            <a:r>
              <a:rPr sz="1400" spc="-265" dirty="0">
                <a:solidFill>
                  <a:srgbClr val="AFAFAF"/>
                </a:solidFill>
                <a:latin typeface="Arial"/>
                <a:cs typeface="Arial"/>
              </a:rPr>
              <a:t>E</a:t>
            </a:r>
            <a:r>
              <a:rPr sz="1400" spc="-135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8E9AAA"/>
                </a:solidFill>
                <a:latin typeface="Arial"/>
                <a:cs typeface="Arial"/>
              </a:rPr>
              <a:t>N</a:t>
            </a:r>
            <a:r>
              <a:rPr sz="1400" spc="-160" dirty="0">
                <a:solidFill>
                  <a:srgbClr val="8E9AAA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8C95A3"/>
                </a:solidFill>
                <a:latin typeface="Arial"/>
                <a:cs typeface="Arial"/>
              </a:rPr>
              <a:t>T</a:t>
            </a:r>
            <a:r>
              <a:rPr sz="1400" spc="-125" dirty="0">
                <a:solidFill>
                  <a:srgbClr val="8C95A3"/>
                </a:solidFill>
                <a:latin typeface="Arial"/>
                <a:cs typeface="Arial"/>
              </a:rPr>
              <a:t> </a:t>
            </a:r>
            <a:r>
              <a:rPr sz="1400" spc="-195" dirty="0">
                <a:solidFill>
                  <a:srgbClr val="525D70"/>
                </a:solidFill>
                <a:latin typeface="Arial"/>
                <a:cs typeface="Arial"/>
              </a:rPr>
              <a:t>E</a:t>
            </a:r>
            <a:r>
              <a:rPr sz="1400" spc="-150" dirty="0">
                <a:solidFill>
                  <a:srgbClr val="525D7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46272"/>
                </a:solidFill>
                <a:latin typeface="Arial"/>
                <a:cs typeface="Arial"/>
              </a:rPr>
              <a:t>D</a:t>
            </a:r>
            <a:r>
              <a:rPr sz="1400" spc="325" dirty="0">
                <a:solidFill>
                  <a:srgbClr val="546272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0C1C2D"/>
                </a:solidFill>
                <a:latin typeface="Arial"/>
                <a:cs typeface="Arial"/>
              </a:rPr>
              <a:t>B</a:t>
            </a:r>
            <a:r>
              <a:rPr sz="1400" spc="-70" dirty="0">
                <a:solidFill>
                  <a:srgbClr val="0C1C2D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9EA8B8"/>
                </a:solidFill>
                <a:latin typeface="Arial"/>
                <a:cs typeface="Arial"/>
              </a:rPr>
              <a:t>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65895" y="9096316"/>
            <a:ext cx="292798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10" dirty="0">
                <a:solidFill>
                  <a:srgbClr val="4D5769"/>
                </a:solidFill>
                <a:latin typeface="Courier New"/>
                <a:cs typeface="Courier New"/>
              </a:rPr>
              <a:t>INTERNSHI°</a:t>
            </a:r>
            <a:r>
              <a:rPr sz="1650" spc="-210" dirty="0">
                <a:solidFill>
                  <a:srgbClr val="4D5769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909CAC"/>
                </a:solidFill>
                <a:latin typeface="Courier New"/>
                <a:cs typeface="Courier New"/>
              </a:rPr>
              <a:t>ORGANIZATIOH</a:t>
            </a:r>
            <a:endParaRPr sz="165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706" y="9470915"/>
            <a:ext cx="20080605" cy="840740"/>
            <a:chOff x="15706" y="9470915"/>
            <a:chExt cx="20080605" cy="8407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5878" y="9816454"/>
              <a:ext cx="2638663" cy="4868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706" y="9470915"/>
              <a:ext cx="20080605" cy="840740"/>
            </a:xfrm>
            <a:custGeom>
              <a:avLst/>
              <a:gdLst/>
              <a:ahLst/>
              <a:cxnLst/>
              <a:rect l="l" t="t" r="r" b="b"/>
              <a:pathLst>
                <a:path w="20080605" h="840740">
                  <a:moveTo>
                    <a:pt x="20080541" y="840288"/>
                  </a:moveTo>
                  <a:lnTo>
                    <a:pt x="0" y="840288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840288"/>
                  </a:lnTo>
                  <a:close/>
                </a:path>
              </a:pathLst>
            </a:custGeom>
            <a:solidFill>
              <a:srgbClr val="131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63646" y="9375102"/>
            <a:ext cx="3176905" cy="93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algn="ctr">
              <a:lnSpc>
                <a:spcPts val="2910"/>
              </a:lnSpc>
              <a:spcBef>
                <a:spcPts val="95"/>
              </a:spcBef>
            </a:pPr>
            <a:r>
              <a:rPr lang="en-US" sz="2450" spc="-140" dirty="0">
                <a:solidFill>
                  <a:srgbClr val="FFFFFF"/>
                </a:solidFill>
                <a:latin typeface="Arial"/>
                <a:cs typeface="Arial"/>
              </a:rPr>
              <a:t>GOKULNATH V</a:t>
            </a:r>
            <a:endParaRPr sz="2450" dirty="0">
              <a:latin typeface="Arial"/>
              <a:cs typeface="Arial"/>
            </a:endParaRPr>
          </a:p>
          <a:p>
            <a:pPr marL="23495" algn="ctr">
              <a:lnSpc>
                <a:spcPts val="2100"/>
              </a:lnSpc>
            </a:pPr>
            <a:r>
              <a:rPr sz="1800" spc="-30" dirty="0">
                <a:solidFill>
                  <a:srgbClr val="DFDFDF"/>
                </a:solidFill>
                <a:latin typeface="Arial"/>
                <a:cs typeface="Arial"/>
              </a:rPr>
              <a:t>Reg</a:t>
            </a:r>
            <a:r>
              <a:rPr sz="1800" spc="60" dirty="0">
                <a:solidFill>
                  <a:srgbClr val="DFDFD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D8D8D8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DFDFDF"/>
                </a:solidFill>
                <a:latin typeface="Arial"/>
                <a:cs typeface="Arial"/>
              </a:rPr>
              <a:t>o:</a:t>
            </a:r>
            <a:r>
              <a:rPr sz="1800" spc="-55" dirty="0">
                <a:solidFill>
                  <a:srgbClr val="DFDFD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E4E4E4"/>
                </a:solidFill>
                <a:latin typeface="Arial"/>
                <a:cs typeface="Arial"/>
              </a:rPr>
              <a:t>810023205</a:t>
            </a:r>
            <a:r>
              <a:rPr lang="en-US" sz="1800" spc="-10" dirty="0">
                <a:solidFill>
                  <a:srgbClr val="E4E4E4"/>
                </a:solidFill>
                <a:latin typeface="Arial"/>
                <a:cs typeface="Arial"/>
              </a:rPr>
              <a:t>116</a:t>
            </a:r>
            <a:endParaRPr sz="1800" dirty="0">
              <a:latin typeface="Arial"/>
              <a:cs typeface="Arial"/>
            </a:endParaRPr>
          </a:p>
          <a:p>
            <a:pPr algn="ctr">
              <a:lnSpc>
                <a:spcPts val="2130"/>
              </a:lnSpc>
            </a:pPr>
            <a:r>
              <a:rPr sz="1800" spc="-30" dirty="0">
                <a:solidFill>
                  <a:srgbClr val="E8E8E8"/>
                </a:solidFill>
                <a:latin typeface="Arial"/>
                <a:cs typeface="Arial"/>
              </a:rPr>
              <a:t>B.Tech</a:t>
            </a:r>
            <a:r>
              <a:rPr sz="1800" spc="-10" dirty="0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6E6E6"/>
                </a:solidFill>
                <a:latin typeface="Arial"/>
                <a:cs typeface="Arial"/>
              </a:rPr>
              <a:t>Information</a:t>
            </a:r>
            <a:r>
              <a:rPr sz="1800" spc="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E6E6E6"/>
                </a:solidFill>
                <a:latin typeface="Arial"/>
                <a:cs typeface="Arial"/>
              </a:rPr>
              <a:t>Technology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34248" y="9375102"/>
            <a:ext cx="281495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125" dirty="0">
                <a:solidFill>
                  <a:srgbClr val="FFFFFF"/>
                </a:solidFill>
                <a:latin typeface="Calibri"/>
                <a:cs typeface="Calibri"/>
              </a:rPr>
              <a:t>Fantasy</a:t>
            </a:r>
            <a:r>
              <a:rPr sz="24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50" spc="105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4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50" spc="75" dirty="0">
                <a:solidFill>
                  <a:srgbClr val="FFFFFF"/>
                </a:solidFill>
                <a:latin typeface="Calibri"/>
                <a:cs typeface="Calibri"/>
              </a:rPr>
              <a:t>Solutions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47960" y="9472613"/>
            <a:ext cx="4368165" cy="83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algn="ctr">
              <a:lnSpc>
                <a:spcPts val="2130"/>
              </a:lnSpc>
              <a:spcBef>
                <a:spcPts val="100"/>
              </a:spcBef>
            </a:pPr>
            <a:r>
              <a:rPr sz="1800" spc="-20" dirty="0">
                <a:solidFill>
                  <a:srgbClr val="E8E8E8"/>
                </a:solidFill>
                <a:latin typeface="Arial"/>
                <a:cs typeface="Arial"/>
              </a:rPr>
              <a:t>Course</a:t>
            </a:r>
            <a:r>
              <a:rPr sz="1800" dirty="0">
                <a:solidFill>
                  <a:srgbClr val="E8E8E8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DDDDDD"/>
                </a:solidFill>
                <a:latin typeface="Arial"/>
                <a:cs typeface="Arial"/>
              </a:rPr>
              <a:t>Cod</a:t>
            </a:r>
            <a:r>
              <a:rPr sz="1800" spc="-315" dirty="0">
                <a:solidFill>
                  <a:srgbClr val="DDDDDD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DDDDDD"/>
                </a:solidFill>
                <a:latin typeface="Arial"/>
                <a:cs typeface="Arial"/>
              </a:rPr>
              <a:t>e:</a:t>
            </a:r>
            <a:r>
              <a:rPr sz="1800" spc="-85" dirty="0">
                <a:solidFill>
                  <a:srgbClr val="DDDDDD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E1E1E1"/>
                </a:solidFill>
                <a:latin typeface="Arial"/>
                <a:cs typeface="Arial"/>
              </a:rPr>
              <a:t>IT3711</a:t>
            </a:r>
            <a:endParaRPr sz="1800">
              <a:latin typeface="Arial"/>
              <a:cs typeface="Arial"/>
            </a:endParaRPr>
          </a:p>
          <a:p>
            <a:pPr marL="12065" marR="5080" algn="ctr">
              <a:lnSpc>
                <a:spcPts val="2100"/>
              </a:lnSpc>
              <a:spcBef>
                <a:spcPts val="95"/>
              </a:spcBef>
            </a:pPr>
            <a:r>
              <a:rPr sz="1800" dirty="0">
                <a:solidFill>
                  <a:srgbClr val="DDDDDD"/>
                </a:solidFill>
                <a:latin typeface="Arial"/>
                <a:cs typeface="Arial"/>
              </a:rPr>
              <a:t>Anna</a:t>
            </a:r>
            <a:r>
              <a:rPr sz="1800" spc="-15" dirty="0">
                <a:solidFill>
                  <a:srgbClr val="DDDDDD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E2E2E2"/>
                </a:solidFill>
                <a:latin typeface="Arial"/>
                <a:cs typeface="Arial"/>
              </a:rPr>
              <a:t>University</a:t>
            </a:r>
            <a:r>
              <a:rPr sz="1800" spc="85" dirty="0">
                <a:solidFill>
                  <a:srgbClr val="E2E2E2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E6E6E6"/>
                </a:solidFill>
                <a:latin typeface="Arial"/>
                <a:cs typeface="Arial"/>
              </a:rPr>
              <a:t>(UCE-</a:t>
            </a:r>
            <a:r>
              <a:rPr sz="1800" dirty="0">
                <a:solidFill>
                  <a:srgbClr val="E6E6E6"/>
                </a:solidFill>
                <a:latin typeface="Arial"/>
                <a:cs typeface="Arial"/>
              </a:rPr>
              <a:t>BIT</a:t>
            </a:r>
            <a:r>
              <a:rPr sz="1800" spc="3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DFDFDF"/>
                </a:solidFill>
                <a:latin typeface="Arial"/>
                <a:cs typeface="Arial"/>
              </a:rPr>
              <a:t>Campus,</a:t>
            </a:r>
            <a:r>
              <a:rPr sz="1800" spc="25" dirty="0">
                <a:solidFill>
                  <a:srgbClr val="DFDFD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DFDFDF"/>
                </a:solidFill>
                <a:latin typeface="Arial"/>
                <a:cs typeface="Arial"/>
              </a:rPr>
              <a:t>Trichy) </a:t>
            </a:r>
            <a:r>
              <a:rPr sz="1800" spc="-50" dirty="0">
                <a:solidFill>
                  <a:srgbClr val="67778E"/>
                </a:solidFill>
                <a:latin typeface="Arial"/>
                <a:cs typeface="Arial"/>
              </a:rPr>
              <a:t>Aca</a:t>
            </a:r>
            <a:r>
              <a:rPr sz="1800" spc="-265" dirty="0">
                <a:solidFill>
                  <a:srgbClr val="6777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979797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rgbClr val="AFAFAF"/>
                </a:solidFill>
                <a:latin typeface="Arial"/>
                <a:cs typeface="Arial"/>
              </a:rPr>
              <a:t>ernie</a:t>
            </a:r>
            <a:r>
              <a:rPr sz="1800" spc="204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AAAAAA"/>
                </a:solidFill>
                <a:latin typeface="Arial"/>
                <a:cs typeface="Arial"/>
              </a:rPr>
              <a:t>*ear:</a:t>
            </a:r>
            <a:r>
              <a:rPr sz="1800" spc="25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C8EA1"/>
                </a:solidFill>
                <a:latin typeface="Arial"/>
                <a:cs typeface="Arial"/>
              </a:rPr>
              <a:t>202</a:t>
            </a:r>
            <a:r>
              <a:rPr sz="1800" spc="-295" dirty="0">
                <a:solidFill>
                  <a:srgbClr val="7C8EA1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28344D"/>
                </a:solidFill>
                <a:latin typeface="Arial"/>
                <a:cs typeface="Arial"/>
              </a:rPr>
              <a:t>ó</a:t>
            </a:r>
            <a:r>
              <a:rPr sz="1800" spc="-220" dirty="0">
                <a:solidFill>
                  <a:srgbClr val="28344D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213146"/>
                </a:solidFill>
                <a:latin typeface="Arial"/>
                <a:cs typeface="Arial"/>
              </a:rPr>
              <a:t>-</a:t>
            </a:r>
            <a:r>
              <a:rPr sz="1800" spc="-20" dirty="0">
                <a:solidFill>
                  <a:srgbClr val="213146"/>
                </a:solidFill>
                <a:latin typeface="Arial"/>
                <a:cs typeface="Arial"/>
              </a:rPr>
              <a:t>20</a:t>
            </a:r>
            <a:r>
              <a:rPr sz="1800" spc="-20" dirty="0">
                <a:solidFill>
                  <a:srgbClr val="8999AF"/>
                </a:solidFill>
                <a:latin typeface="Arial"/>
                <a:cs typeface="Arial"/>
              </a:rPr>
              <a:t>2</a:t>
            </a:r>
            <a:r>
              <a:rPr sz="1800" spc="-20" dirty="0">
                <a:solidFill>
                  <a:srgbClr val="7C879A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706" y="10711715"/>
            <a:ext cx="20088860" cy="188595"/>
            <a:chOff x="15706" y="10711715"/>
            <a:chExt cx="20088860" cy="18859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711715"/>
              <a:ext cx="20088393" cy="1884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10711715"/>
              <a:ext cx="20088393" cy="188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39795" y="959129"/>
            <a:ext cx="134429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21970" algn="l"/>
              </a:tabLst>
            </a:pPr>
            <a:r>
              <a:rPr sz="1900" spc="-25" dirty="0">
                <a:solidFill>
                  <a:srgbClr val="335EE4"/>
                </a:solidFill>
                <a:latin typeface="Calibri"/>
                <a:cs typeface="Calibri"/>
              </a:rPr>
              <a:t>OVE</a:t>
            </a:r>
            <a:r>
              <a:rPr sz="1900" dirty="0">
                <a:solidFill>
                  <a:srgbClr val="335EE4"/>
                </a:solidFill>
                <a:latin typeface="Calibri"/>
                <a:cs typeface="Calibri"/>
              </a:rPr>
              <a:t>	</a:t>
            </a:r>
            <a:r>
              <a:rPr sz="1900" spc="215" dirty="0">
                <a:solidFill>
                  <a:srgbClr val="3667DD"/>
                </a:solidFill>
                <a:latin typeface="Calibri"/>
                <a:cs typeface="Calibri"/>
              </a:rPr>
              <a:t>RVIE</a:t>
            </a:r>
            <a:r>
              <a:rPr sz="1900" spc="-210" dirty="0">
                <a:solidFill>
                  <a:srgbClr val="3667DD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D59DD"/>
                </a:solidFill>
                <a:latin typeface="Calibri"/>
                <a:cs typeface="Calibri"/>
              </a:rPr>
              <a:t>W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111111"/>
                </a:solidFill>
              </a:rPr>
              <a:t>Introduction</a:t>
            </a:r>
            <a:r>
              <a:rPr spc="40" dirty="0">
                <a:solidFill>
                  <a:srgbClr val="111111"/>
                </a:solidFill>
              </a:rPr>
              <a:t> </a:t>
            </a:r>
            <a:r>
              <a:rPr spc="-285" dirty="0"/>
              <a:t>&amp;</a:t>
            </a:r>
            <a:r>
              <a:rPr spc="-235" dirty="0"/>
              <a:t> </a:t>
            </a:r>
            <a:r>
              <a:rPr spc="80" dirty="0"/>
              <a:t>Objectives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4202" y="5316592"/>
            <a:ext cx="706784" cy="4947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6890" y="5285179"/>
            <a:ext cx="534015" cy="5575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38900" y="5324445"/>
            <a:ext cx="494749" cy="4947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83790" y="5128116"/>
            <a:ext cx="565427" cy="5654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40665" y="5868665"/>
            <a:ext cx="3381375" cy="163385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1385"/>
              </a:spcBef>
            </a:pPr>
            <a:r>
              <a:rPr sz="2550" spc="55" dirty="0">
                <a:solidFill>
                  <a:srgbClr val="212121"/>
                </a:solidFill>
                <a:latin typeface="Calibri"/>
                <a:cs typeface="Calibri"/>
              </a:rPr>
              <a:t>Cloud</a:t>
            </a:r>
            <a:r>
              <a:rPr sz="2550" spc="-2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550" spc="45" dirty="0">
                <a:solidFill>
                  <a:srgbClr val="1F1F1F"/>
                </a:solidFill>
                <a:latin typeface="Calibri"/>
                <a:cs typeface="Calibri"/>
              </a:rPr>
              <a:t>Infrastructure</a:t>
            </a:r>
            <a:endParaRPr sz="2550">
              <a:latin typeface="Calibri"/>
              <a:cs typeface="Calibri"/>
            </a:endParaRPr>
          </a:p>
          <a:p>
            <a:pPr marL="12065" marR="5080" indent="-13970" algn="ctr">
              <a:lnSpc>
                <a:spcPct val="98000"/>
              </a:lnSpc>
              <a:spcBef>
                <a:spcPts val="1080"/>
              </a:spcBef>
            </a:pPr>
            <a:r>
              <a:rPr sz="2050" spc="-45" dirty="0">
                <a:solidFill>
                  <a:srgbClr val="747E87"/>
                </a:solidFill>
                <a:latin typeface="Calibri"/>
                <a:cs typeface="Calibri"/>
              </a:rPr>
              <a:t>Web-</a:t>
            </a:r>
            <a:r>
              <a:rPr sz="2050" dirty="0">
                <a:solidFill>
                  <a:srgbClr val="747E87"/>
                </a:solidFill>
                <a:latin typeface="Calibri"/>
                <a:cs typeface="Calibri"/>
              </a:rPr>
              <a:t>based</a:t>
            </a:r>
            <a:r>
              <a:rPr sz="2050" spc="114" dirty="0">
                <a:solidFill>
                  <a:srgbClr val="747E87"/>
                </a:solidFill>
                <a:latin typeface="Calibri"/>
                <a:cs typeface="Calibri"/>
              </a:rPr>
              <a:t> </a:t>
            </a:r>
            <a:r>
              <a:rPr sz="2050" spc="-40" dirty="0">
                <a:solidFill>
                  <a:srgbClr val="666666"/>
                </a:solidFill>
                <a:latin typeface="Calibri"/>
                <a:cs typeface="Calibri"/>
              </a:rPr>
              <a:t>voting</a:t>
            </a:r>
            <a:r>
              <a:rPr sz="2050" spc="7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B6B6B"/>
                </a:solidFill>
                <a:latin typeface="Calibri"/>
                <a:cs typeface="Calibri"/>
              </a:rPr>
              <a:t>application </a:t>
            </a:r>
            <a:r>
              <a:rPr sz="2050" spc="-80" dirty="0">
                <a:solidFill>
                  <a:srgbClr val="6E6E6E"/>
                </a:solidFill>
                <a:latin typeface="Calibri"/>
                <a:cs typeface="Calibri"/>
              </a:rPr>
              <a:t>eliminating</a:t>
            </a:r>
            <a:r>
              <a:rPr sz="2050" spc="114" dirty="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76767"/>
                </a:solidFill>
                <a:latin typeface="Calibri"/>
                <a:cs typeface="Calibri"/>
              </a:rPr>
              <a:t>physical</a:t>
            </a:r>
            <a:r>
              <a:rPr sz="2050" spc="-6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9097A5"/>
                </a:solidFill>
                <a:latin typeface="Calibri"/>
                <a:cs typeface="Calibri"/>
              </a:rPr>
              <a:t>polling </a:t>
            </a:r>
            <a:r>
              <a:rPr sz="2050" spc="-40" dirty="0">
                <a:solidFill>
                  <a:srgbClr val="626262"/>
                </a:solidFill>
                <a:latin typeface="Calibri"/>
                <a:cs typeface="Calibri"/>
              </a:rPr>
              <a:t>constraints</a:t>
            </a:r>
            <a:r>
              <a:rPr sz="2050" spc="5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spc="-80" dirty="0">
                <a:solidFill>
                  <a:srgbClr val="707070"/>
                </a:solidFill>
                <a:latin typeface="Calibri"/>
                <a:cs typeface="Calibri"/>
              </a:rPr>
              <a:t>with</a:t>
            </a:r>
            <a:r>
              <a:rPr sz="2050" spc="-35" dirty="0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sz="2050" spc="-30" dirty="0">
                <a:solidFill>
                  <a:srgbClr val="626262"/>
                </a:solidFill>
                <a:latin typeface="Calibri"/>
                <a:cs typeface="Calibri"/>
              </a:rPr>
              <a:t>cloud</a:t>
            </a:r>
            <a:r>
              <a:rPr sz="2050" spc="40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spc="-35" dirty="0">
                <a:solidFill>
                  <a:srgbClr val="626262"/>
                </a:solidFill>
                <a:latin typeface="Calibri"/>
                <a:cs typeface="Calibri"/>
              </a:rPr>
              <a:t>scalability.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5518" y="5886334"/>
            <a:ext cx="3307079" cy="161607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2550" spc="100" dirty="0">
                <a:solidFill>
                  <a:srgbClr val="1F1F1F"/>
                </a:solidFill>
                <a:latin typeface="Calibri"/>
                <a:cs typeface="Calibri"/>
              </a:rPr>
              <a:t>Secure</a:t>
            </a:r>
            <a:r>
              <a:rPr sz="2550" spc="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2550" spc="40" dirty="0">
                <a:solidFill>
                  <a:srgbClr val="1D1D1D"/>
                </a:solidFill>
                <a:latin typeface="Calibri"/>
                <a:cs typeface="Calibri"/>
              </a:rPr>
              <a:t>Authentication</a:t>
            </a:r>
            <a:endParaRPr sz="2550">
              <a:latin typeface="Calibri"/>
              <a:cs typeface="Calibri"/>
            </a:endParaRPr>
          </a:p>
          <a:p>
            <a:pPr marL="12700" marR="5080" algn="ctr">
              <a:lnSpc>
                <a:spcPct val="98000"/>
              </a:lnSpc>
              <a:spcBef>
                <a:spcPts val="1015"/>
              </a:spcBef>
            </a:pPr>
            <a:r>
              <a:rPr sz="2050" spc="-75" dirty="0">
                <a:solidFill>
                  <a:srgbClr val="696969"/>
                </a:solidFill>
                <a:latin typeface="Calibri"/>
                <a:cs typeface="Calibri"/>
              </a:rPr>
              <a:t>Voter</a:t>
            </a:r>
            <a:r>
              <a:rPr sz="2050" spc="-35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696969"/>
                </a:solidFill>
                <a:latin typeface="Calibri"/>
                <a:cs typeface="Calibri"/>
              </a:rPr>
              <a:t>identity</a:t>
            </a:r>
            <a:r>
              <a:rPr sz="2050" spc="45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2050" spc="-55" dirty="0">
                <a:solidFill>
                  <a:srgbClr val="696969"/>
                </a:solidFill>
                <a:latin typeface="Calibri"/>
                <a:cs typeface="Calibri"/>
              </a:rPr>
              <a:t>validation</a:t>
            </a:r>
            <a:r>
              <a:rPr sz="2050" spc="55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2050" spc="-60" dirty="0">
                <a:solidFill>
                  <a:srgbClr val="6E6E6E"/>
                </a:solidFill>
                <a:latin typeface="Calibri"/>
                <a:cs typeface="Calibri"/>
              </a:rPr>
              <a:t>through </a:t>
            </a:r>
            <a:r>
              <a:rPr sz="2050" dirty="0">
                <a:solidFill>
                  <a:srgbClr val="7E8C9C"/>
                </a:solidFill>
                <a:latin typeface="Calibri"/>
                <a:cs typeface="Calibri"/>
              </a:rPr>
              <a:t>OTP</a:t>
            </a:r>
            <a:r>
              <a:rPr sz="2050" spc="70" dirty="0">
                <a:solidFill>
                  <a:srgbClr val="7E8C9C"/>
                </a:solidFill>
                <a:latin typeface="Calibri"/>
                <a:cs typeface="Calibri"/>
              </a:rPr>
              <a:t> </a:t>
            </a:r>
            <a:r>
              <a:rPr sz="2050" spc="-55" dirty="0">
                <a:solidFill>
                  <a:srgbClr val="6B6B6B"/>
                </a:solidFill>
                <a:latin typeface="Calibri"/>
                <a:cs typeface="Calibri"/>
              </a:rPr>
              <a:t>verification</a:t>
            </a:r>
            <a:r>
              <a:rPr sz="2050" spc="10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8095AA"/>
                </a:solidFill>
                <a:latin typeface="Calibri"/>
                <a:cs typeface="Calibri"/>
              </a:rPr>
              <a:t>and</a:t>
            </a:r>
            <a:r>
              <a:rPr sz="2050" spc="70" dirty="0">
                <a:solidFill>
                  <a:srgbClr val="8095AA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26262"/>
                </a:solidFill>
                <a:latin typeface="Calibri"/>
                <a:cs typeface="Calibri"/>
              </a:rPr>
              <a:t>encrypted </a:t>
            </a:r>
            <a:r>
              <a:rPr sz="2050" spc="-40" dirty="0">
                <a:solidFill>
                  <a:srgbClr val="626262"/>
                </a:solidFill>
                <a:latin typeface="Calibri"/>
                <a:cs typeface="Calibri"/>
              </a:rPr>
              <a:t>credential</a:t>
            </a:r>
            <a:r>
              <a:rPr sz="2050" spc="-5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505050"/>
                </a:solidFill>
                <a:latin typeface="Calibri"/>
                <a:cs typeface="Calibri"/>
              </a:rPr>
              <a:t>verification.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71608" y="5868665"/>
            <a:ext cx="3230245" cy="163385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sz="2550" dirty="0">
                <a:solidFill>
                  <a:srgbClr val="1D1D1D"/>
                </a:solidFill>
                <a:latin typeface="Calibri"/>
                <a:cs typeface="Calibri"/>
              </a:rPr>
              <a:t>Automated</a:t>
            </a:r>
            <a:r>
              <a:rPr sz="2550" spc="2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550" spc="80" dirty="0">
                <a:solidFill>
                  <a:srgbClr val="1A1A1A"/>
                </a:solidFill>
                <a:latin typeface="Calibri"/>
                <a:cs typeface="Calibri"/>
              </a:rPr>
              <a:t>Results</a:t>
            </a:r>
            <a:endParaRPr sz="2550">
              <a:latin typeface="Calibri"/>
              <a:cs typeface="Calibri"/>
            </a:endParaRPr>
          </a:p>
          <a:p>
            <a:pPr marL="12700" marR="5080" indent="1270" algn="ctr">
              <a:lnSpc>
                <a:spcPct val="98000"/>
              </a:lnSpc>
              <a:spcBef>
                <a:spcPts val="1080"/>
              </a:spcBef>
            </a:pPr>
            <a:r>
              <a:rPr sz="2050" spc="-70" dirty="0">
                <a:solidFill>
                  <a:srgbClr val="676767"/>
                </a:solidFill>
                <a:latin typeface="Calibri"/>
                <a:cs typeface="Calibri"/>
              </a:rPr>
              <a:t>Real-</a:t>
            </a:r>
            <a:r>
              <a:rPr sz="2050" spc="-25" dirty="0">
                <a:solidFill>
                  <a:srgbClr val="676767"/>
                </a:solidFill>
                <a:latin typeface="Calibri"/>
                <a:cs typeface="Calibri"/>
              </a:rPr>
              <a:t>time</a:t>
            </a:r>
            <a:r>
              <a:rPr sz="2050" spc="-15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050" spc="-55" dirty="0">
                <a:solidFill>
                  <a:srgbClr val="626262"/>
                </a:solidFill>
                <a:latin typeface="Calibri"/>
                <a:cs typeface="Calibri"/>
              </a:rPr>
              <a:t>automated</a:t>
            </a:r>
            <a:r>
              <a:rPr sz="2050" spc="55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696969"/>
                </a:solidFill>
                <a:latin typeface="Calibri"/>
                <a:cs typeface="Calibri"/>
              </a:rPr>
              <a:t>vote </a:t>
            </a:r>
            <a:r>
              <a:rPr sz="2050" spc="-10" dirty="0">
                <a:solidFill>
                  <a:srgbClr val="6B6B6B"/>
                </a:solidFill>
                <a:latin typeface="Calibri"/>
                <a:cs typeface="Calibri"/>
              </a:rPr>
              <a:t>processing</a:t>
            </a:r>
            <a:r>
              <a:rPr sz="2050" spc="7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90A7BD"/>
                </a:solidFill>
                <a:latin typeface="Calibri"/>
                <a:cs typeface="Calibri"/>
              </a:rPr>
              <a:t>and</a:t>
            </a:r>
            <a:r>
              <a:rPr sz="2050" spc="-40" dirty="0">
                <a:solidFill>
                  <a:srgbClr val="90A7BD"/>
                </a:solidFill>
                <a:latin typeface="Calibri"/>
                <a:cs typeface="Calibri"/>
              </a:rPr>
              <a:t> </a:t>
            </a:r>
            <a:r>
              <a:rPr sz="2050" spc="-50" dirty="0">
                <a:solidFill>
                  <a:srgbClr val="7797A5"/>
                </a:solidFill>
                <a:latin typeface="Calibri"/>
                <a:cs typeface="Calibri"/>
              </a:rPr>
              <a:t>instant</a:t>
            </a:r>
            <a:r>
              <a:rPr sz="2050" spc="45" dirty="0">
                <a:solidFill>
                  <a:srgbClr val="7797A5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606060"/>
                </a:solidFill>
                <a:latin typeface="Calibri"/>
                <a:cs typeface="Calibri"/>
              </a:rPr>
              <a:t>election </a:t>
            </a:r>
            <a:r>
              <a:rPr sz="2050" spc="-55" dirty="0">
                <a:solidFill>
                  <a:srgbClr val="676767"/>
                </a:solidFill>
                <a:latin typeface="Calibri"/>
                <a:cs typeface="Calibri"/>
              </a:rPr>
              <a:t>result</a:t>
            </a:r>
            <a:r>
              <a:rPr sz="2050" spc="-1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B6B6B"/>
                </a:solidFill>
                <a:latin typeface="Calibri"/>
                <a:cs typeface="Calibri"/>
              </a:rPr>
              <a:t>tallying.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29778" y="5752994"/>
            <a:ext cx="3266440" cy="190627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10"/>
              </a:spcBef>
            </a:pPr>
            <a:r>
              <a:rPr sz="2300" spc="170" dirty="0">
                <a:solidFill>
                  <a:srgbClr val="1D1D1D"/>
                </a:solidFill>
                <a:latin typeface="Calibri"/>
                <a:cs typeface="Calibri"/>
              </a:rPr>
              <a:t>Core</a:t>
            </a:r>
            <a:r>
              <a:rPr sz="2300" spc="-2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300" spc="125" dirty="0">
                <a:solidFill>
                  <a:srgbClr val="151515"/>
                </a:solidFill>
                <a:latin typeface="Calibri"/>
                <a:cs typeface="Calibri"/>
              </a:rPr>
              <a:t>Internship </a:t>
            </a:r>
            <a:r>
              <a:rPr sz="2300" spc="135" dirty="0">
                <a:solidFill>
                  <a:srgbClr val="1C1C1C"/>
                </a:solidFill>
                <a:latin typeface="Calibri"/>
                <a:cs typeface="Calibri"/>
              </a:rPr>
              <a:t>Goal</a:t>
            </a:r>
            <a:endParaRPr sz="2300">
              <a:latin typeface="Calibri"/>
              <a:cs typeface="Calibri"/>
            </a:endParaRPr>
          </a:p>
          <a:p>
            <a:pPr marL="12700" marR="5080" algn="ctr">
              <a:lnSpc>
                <a:spcPct val="98900"/>
              </a:lnSpc>
              <a:spcBef>
                <a:spcPts val="1105"/>
              </a:spcBef>
            </a:pPr>
            <a:r>
              <a:rPr sz="2050" dirty="0">
                <a:solidFill>
                  <a:srgbClr val="676767"/>
                </a:solidFill>
                <a:latin typeface="Calibri"/>
                <a:cs typeface="Calibri"/>
              </a:rPr>
              <a:t>Practical</a:t>
            </a:r>
            <a:r>
              <a:rPr sz="2050" spc="-12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050" spc="-75" dirty="0">
                <a:solidFill>
                  <a:srgbClr val="6B6B6B"/>
                </a:solidFill>
                <a:latin typeface="Calibri"/>
                <a:cs typeface="Calibri"/>
              </a:rPr>
              <a:t>implementation</a:t>
            </a:r>
            <a:r>
              <a:rPr sz="2050" spc="-3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6B6B6B"/>
                </a:solidFill>
                <a:latin typeface="Calibri"/>
                <a:cs typeface="Calibri"/>
              </a:rPr>
              <a:t>of</a:t>
            </a:r>
            <a:r>
              <a:rPr sz="2050" spc="-7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727272"/>
                </a:solidFill>
                <a:latin typeface="Calibri"/>
                <a:cs typeface="Calibri"/>
              </a:rPr>
              <a:t>full-</a:t>
            </a:r>
            <a:r>
              <a:rPr sz="2050" dirty="0">
                <a:solidFill>
                  <a:srgbClr val="7B798E"/>
                </a:solidFill>
                <a:latin typeface="Calibri"/>
                <a:cs typeface="Calibri"/>
              </a:rPr>
              <a:t>stack</a:t>
            </a:r>
            <a:r>
              <a:rPr sz="2050" spc="80" dirty="0">
                <a:solidFill>
                  <a:srgbClr val="7B798E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727982"/>
                </a:solidFill>
                <a:latin typeface="Calibri"/>
                <a:cs typeface="Calibri"/>
              </a:rPr>
              <a:t>web</a:t>
            </a:r>
            <a:r>
              <a:rPr sz="2050" spc="-25" dirty="0">
                <a:solidFill>
                  <a:srgbClr val="727982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696969"/>
                </a:solidFill>
                <a:latin typeface="Calibri"/>
                <a:cs typeface="Calibri"/>
              </a:rPr>
              <a:t>architecture</a:t>
            </a:r>
            <a:r>
              <a:rPr sz="2050" spc="65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677787"/>
                </a:solidFill>
                <a:latin typeface="Calibri"/>
                <a:cs typeface="Calibri"/>
              </a:rPr>
              <a:t>backed </a:t>
            </a:r>
            <a:r>
              <a:rPr sz="2050" dirty="0">
                <a:solidFill>
                  <a:srgbClr val="677793"/>
                </a:solidFill>
                <a:latin typeface="Calibri"/>
                <a:cs typeface="Calibri"/>
              </a:rPr>
              <a:t>by</a:t>
            </a:r>
            <a:r>
              <a:rPr sz="2050" spc="5" dirty="0">
                <a:solidFill>
                  <a:srgbClr val="677793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95A5BF"/>
                </a:solidFill>
                <a:latin typeface="Calibri"/>
                <a:cs typeface="Calibri"/>
              </a:rPr>
              <a:t>AWS</a:t>
            </a:r>
            <a:r>
              <a:rPr sz="2050" spc="60" dirty="0">
                <a:solidFill>
                  <a:srgbClr val="95A5BF"/>
                </a:solidFill>
                <a:latin typeface="Calibri"/>
                <a:cs typeface="Calibri"/>
              </a:rPr>
              <a:t> </a:t>
            </a:r>
            <a:r>
              <a:rPr sz="2050" spc="-30" dirty="0">
                <a:solidFill>
                  <a:srgbClr val="626675"/>
                </a:solidFill>
                <a:latin typeface="Calibri"/>
                <a:cs typeface="Calibri"/>
              </a:rPr>
              <a:t>cloud</a:t>
            </a:r>
            <a:r>
              <a:rPr sz="2050" spc="85" dirty="0">
                <a:solidFill>
                  <a:srgbClr val="626675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96969"/>
                </a:solidFill>
                <a:latin typeface="Calibri"/>
                <a:cs typeface="Calibri"/>
              </a:rPr>
              <a:t>services </a:t>
            </a:r>
            <a:r>
              <a:rPr sz="2050" spc="-25" dirty="0">
                <a:solidFill>
                  <a:srgbClr val="8597AA"/>
                </a:solidFill>
                <a:latin typeface="Calibri"/>
                <a:cs typeface="Calibri"/>
              </a:rPr>
              <a:t>and </a:t>
            </a:r>
            <a:r>
              <a:rPr sz="2050" spc="-10" dirty="0">
                <a:solidFill>
                  <a:srgbClr val="626262"/>
                </a:solidFill>
                <a:latin typeface="Calibri"/>
                <a:cs typeface="Calibri"/>
              </a:rPr>
              <a:t>secure</a:t>
            </a:r>
            <a:r>
              <a:rPr sz="2050" spc="-5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93A5BA"/>
                </a:solidFill>
                <a:latin typeface="Calibri"/>
                <a:cs typeface="Calibri"/>
              </a:rPr>
              <a:t>DB</a:t>
            </a:r>
            <a:r>
              <a:rPr sz="2050" spc="-40" dirty="0">
                <a:solidFill>
                  <a:srgbClr val="93A5BA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5D5D5D"/>
                </a:solidFill>
                <a:latin typeface="Calibri"/>
                <a:cs typeface="Calibri"/>
              </a:rPr>
              <a:t>operations.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635" y="959129"/>
            <a:ext cx="25628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25" dirty="0">
                <a:solidFill>
                  <a:srgbClr val="2857CC"/>
                </a:solidFill>
                <a:latin typeface="Arial"/>
                <a:cs typeface="Arial"/>
              </a:rPr>
              <a:t>SYSTE</a:t>
            </a:r>
            <a:r>
              <a:rPr sz="1900" spc="-285" dirty="0">
                <a:solidFill>
                  <a:srgbClr val="2857CC"/>
                </a:solidFill>
                <a:latin typeface="Arial"/>
                <a:cs typeface="Arial"/>
              </a:rPr>
              <a:t> </a:t>
            </a:r>
            <a:r>
              <a:rPr sz="1900" spc="110" dirty="0">
                <a:solidFill>
                  <a:srgbClr val="3470DB"/>
                </a:solidFill>
                <a:latin typeface="Arial"/>
                <a:cs typeface="Arial"/>
              </a:rPr>
              <a:t>M</a:t>
            </a:r>
            <a:r>
              <a:rPr sz="1900" spc="75" dirty="0">
                <a:solidFill>
                  <a:srgbClr val="3470DB"/>
                </a:solidFill>
                <a:latin typeface="Arial"/>
                <a:cs typeface="Arial"/>
              </a:rPr>
              <a:t> </a:t>
            </a:r>
            <a:r>
              <a:rPr sz="1900" spc="-220" dirty="0">
                <a:solidFill>
                  <a:srgbClr val="2D60ED"/>
                </a:solidFill>
                <a:latin typeface="Arial"/>
                <a:cs typeface="Arial"/>
              </a:rPr>
              <a:t>E</a:t>
            </a:r>
            <a:r>
              <a:rPr sz="1900" spc="-254" dirty="0">
                <a:solidFill>
                  <a:srgbClr val="2D60ED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3860F4"/>
                </a:solidFill>
                <a:latin typeface="Arial"/>
                <a:cs typeface="Arial"/>
              </a:rPr>
              <a:t>VOL</a:t>
            </a:r>
            <a:r>
              <a:rPr sz="1900" spc="-340" dirty="0">
                <a:solidFill>
                  <a:srgbClr val="3860F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35DDB"/>
                </a:solidFill>
                <a:latin typeface="Arial"/>
                <a:cs typeface="Arial"/>
              </a:rPr>
              <a:t>UTION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16525" y="1266711"/>
            <a:ext cx="7533640" cy="751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750" spc="105" dirty="0">
                <a:solidFill>
                  <a:srgbClr val="181818"/>
                </a:solidFill>
              </a:rPr>
              <a:t>Existing</a:t>
            </a:r>
            <a:r>
              <a:rPr sz="4750" spc="95" dirty="0">
                <a:solidFill>
                  <a:srgbClr val="181818"/>
                </a:solidFill>
              </a:rPr>
              <a:t> </a:t>
            </a:r>
            <a:r>
              <a:rPr sz="4750" spc="100" dirty="0"/>
              <a:t>vs.</a:t>
            </a:r>
            <a:r>
              <a:rPr sz="4750" spc="50" dirty="0"/>
              <a:t> </a:t>
            </a:r>
            <a:r>
              <a:rPr sz="4750" dirty="0"/>
              <a:t>Proposed </a:t>
            </a:r>
            <a:r>
              <a:rPr sz="4750" spc="-10" dirty="0">
                <a:solidFill>
                  <a:srgbClr val="111111"/>
                </a:solidFill>
              </a:rPr>
              <a:t>Solution</a:t>
            </a:r>
            <a:endParaRPr sz="4750"/>
          </a:p>
        </p:txBody>
      </p:sp>
      <p:sp>
        <p:nvSpPr>
          <p:cNvPr id="4" name="object 4"/>
          <p:cNvSpPr txBox="1"/>
          <p:nvPr/>
        </p:nvSpPr>
        <p:spPr>
          <a:xfrm>
            <a:off x="1732234" y="2949251"/>
            <a:ext cx="4432935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50" dirty="0">
                <a:solidFill>
                  <a:srgbClr val="DF1D21"/>
                </a:solidFill>
                <a:latin typeface="Calibri"/>
                <a:cs typeface="Calibri"/>
              </a:rPr>
              <a:t>@</a:t>
            </a:r>
            <a:r>
              <a:rPr sz="2800" spc="135" dirty="0">
                <a:solidFill>
                  <a:srgbClr val="DF1D21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rgbClr val="F42126"/>
                </a:solidFill>
                <a:latin typeface="Calibri"/>
                <a:cs typeface="Calibri"/>
              </a:rPr>
              <a:t>Traditional</a:t>
            </a:r>
            <a:r>
              <a:rPr sz="2800" spc="185" dirty="0">
                <a:solidFill>
                  <a:srgbClr val="F4212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D4231F"/>
                </a:solidFill>
                <a:latin typeface="Calibri"/>
                <a:cs typeface="Calibri"/>
              </a:rPr>
              <a:t>Voting</a:t>
            </a:r>
            <a:r>
              <a:rPr sz="2800" spc="340" dirty="0">
                <a:solidFill>
                  <a:srgbClr val="D4231F"/>
                </a:solidFill>
                <a:latin typeface="Calibri"/>
                <a:cs typeface="Calibri"/>
              </a:rPr>
              <a:t> </a:t>
            </a:r>
            <a:r>
              <a:rPr sz="2800" spc="105" dirty="0">
                <a:solidFill>
                  <a:srgbClr val="D82A2D"/>
                </a:solidFill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75663" y="3658654"/>
            <a:ext cx="5899785" cy="20751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90" dirty="0">
                <a:solidFill>
                  <a:srgbClr val="9C1816"/>
                </a:solidFill>
                <a:latin typeface="Arial"/>
                <a:cs typeface="Arial"/>
              </a:rPr>
              <a:t>x</a:t>
            </a:r>
            <a:r>
              <a:rPr sz="2300" spc="50" dirty="0">
                <a:solidFill>
                  <a:srgbClr val="9C1816"/>
                </a:solidFill>
                <a:latin typeface="Arial"/>
                <a:cs typeface="Arial"/>
              </a:rPr>
              <a:t>  </a:t>
            </a:r>
            <a:r>
              <a:rPr sz="2300" spc="-125" dirty="0">
                <a:solidFill>
                  <a:srgbClr val="8C2331"/>
                </a:solidFill>
                <a:latin typeface="Arial"/>
                <a:cs typeface="Arial"/>
              </a:rPr>
              <a:t>Physical</a:t>
            </a:r>
            <a:r>
              <a:rPr sz="2300" dirty="0">
                <a:solidFill>
                  <a:srgbClr val="8C2331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6E1C2F"/>
                </a:solidFill>
                <a:latin typeface="Arial"/>
                <a:cs typeface="Arial"/>
              </a:rPr>
              <a:t>polling</a:t>
            </a:r>
            <a:r>
              <a:rPr sz="2300" spc="110" dirty="0">
                <a:solidFill>
                  <a:srgbClr val="6E1C2F"/>
                </a:solidFill>
                <a:latin typeface="Arial"/>
                <a:cs typeface="Arial"/>
              </a:rPr>
              <a:t> </a:t>
            </a:r>
            <a:r>
              <a:rPr sz="2300" spc="-114" dirty="0">
                <a:solidFill>
                  <a:srgbClr val="832D36"/>
                </a:solidFill>
                <a:latin typeface="Arial"/>
                <a:cs typeface="Arial"/>
              </a:rPr>
              <a:t>stations</a:t>
            </a:r>
            <a:r>
              <a:rPr sz="2300" spc="40" dirty="0">
                <a:solidFill>
                  <a:srgbClr val="832D3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832828"/>
                </a:solidFill>
                <a:latin typeface="Arial"/>
                <a:cs typeface="Arial"/>
              </a:rPr>
              <a:t>required</a:t>
            </a:r>
            <a:endParaRPr sz="2300">
              <a:latin typeface="Arial"/>
              <a:cs typeface="Arial"/>
            </a:endParaRPr>
          </a:p>
          <a:p>
            <a:pPr marL="12700" marR="247015">
              <a:lnSpc>
                <a:spcPct val="159100"/>
              </a:lnSpc>
              <a:spcBef>
                <a:spcPts val="125"/>
              </a:spcBef>
              <a:tabLst>
                <a:tab pos="376555" algn="l"/>
              </a:tabLst>
            </a:pPr>
            <a:r>
              <a:rPr sz="2300" spc="90" dirty="0">
                <a:solidFill>
                  <a:srgbClr val="9A181D"/>
                </a:solidFill>
                <a:latin typeface="Arial"/>
                <a:cs typeface="Arial"/>
              </a:rPr>
              <a:t>x</a:t>
            </a:r>
            <a:r>
              <a:rPr sz="2300" spc="25" dirty="0">
                <a:solidFill>
                  <a:srgbClr val="9A181D"/>
                </a:solidFill>
                <a:latin typeface="Arial"/>
                <a:cs typeface="Arial"/>
              </a:rPr>
              <a:t>  </a:t>
            </a:r>
            <a:r>
              <a:rPr sz="2300" spc="-120" dirty="0">
                <a:solidFill>
                  <a:srgbClr val="7E2334"/>
                </a:solidFill>
                <a:latin typeface="Arial"/>
                <a:cs typeface="Arial"/>
              </a:rPr>
              <a:t>Heavy</a:t>
            </a:r>
            <a:r>
              <a:rPr sz="2300" spc="65" dirty="0">
                <a:solidFill>
                  <a:srgbClr val="7E2334"/>
                </a:solidFill>
                <a:latin typeface="Arial"/>
                <a:cs typeface="Arial"/>
              </a:rPr>
              <a:t> </a:t>
            </a:r>
            <a:r>
              <a:rPr sz="2300" spc="-165" dirty="0">
                <a:solidFill>
                  <a:srgbClr val="6B2D36"/>
                </a:solidFill>
                <a:latin typeface="Arial"/>
                <a:cs typeface="Arial"/>
              </a:rPr>
              <a:t>manual</a:t>
            </a:r>
            <a:r>
              <a:rPr sz="2300" spc="25" dirty="0">
                <a:solidFill>
                  <a:srgbClr val="6B2D3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A71A23"/>
                </a:solidFill>
                <a:latin typeface="Arial"/>
                <a:cs typeface="Arial"/>
              </a:rPr>
              <a:t>effort</a:t>
            </a:r>
            <a:r>
              <a:rPr sz="2300" spc="-45" dirty="0">
                <a:solidFill>
                  <a:srgbClr val="A71A23"/>
                </a:solidFill>
                <a:latin typeface="Arial"/>
                <a:cs typeface="Arial"/>
              </a:rPr>
              <a:t> </a:t>
            </a:r>
            <a:r>
              <a:rPr sz="2300" spc="-150" dirty="0">
                <a:solidFill>
                  <a:srgbClr val="975969"/>
                </a:solidFill>
                <a:latin typeface="Arial"/>
                <a:cs typeface="Arial"/>
              </a:rPr>
              <a:t>and</a:t>
            </a:r>
            <a:r>
              <a:rPr sz="2300" spc="-10" dirty="0">
                <a:solidFill>
                  <a:srgbClr val="975969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870F31"/>
                </a:solidFill>
                <a:latin typeface="Arial"/>
                <a:cs typeface="Arial"/>
              </a:rPr>
              <a:t>paper</a:t>
            </a:r>
            <a:r>
              <a:rPr sz="2300" spc="-10" dirty="0">
                <a:solidFill>
                  <a:srgbClr val="870F31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A84949"/>
                </a:solidFill>
                <a:latin typeface="Arial"/>
                <a:cs typeface="Arial"/>
              </a:rPr>
              <a:t>consumption </a:t>
            </a:r>
            <a:r>
              <a:rPr sz="2300" spc="40" dirty="0">
                <a:solidFill>
                  <a:srgbClr val="9C1816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srgbClr val="9C1816"/>
                </a:solidFill>
                <a:latin typeface="Arial"/>
                <a:cs typeface="Arial"/>
              </a:rPr>
              <a:t>	</a:t>
            </a:r>
            <a:r>
              <a:rPr sz="2300" spc="-120" dirty="0">
                <a:solidFill>
                  <a:srgbClr val="974F5D"/>
                </a:solidFill>
                <a:latin typeface="Arial"/>
                <a:cs typeface="Arial"/>
              </a:rPr>
              <a:t>Time-</a:t>
            </a:r>
            <a:r>
              <a:rPr sz="2300" spc="-125" dirty="0">
                <a:solidFill>
                  <a:srgbClr val="974F5D"/>
                </a:solidFill>
                <a:latin typeface="Arial"/>
                <a:cs typeface="Arial"/>
              </a:rPr>
              <a:t>consuming</a:t>
            </a:r>
            <a:r>
              <a:rPr sz="2300" spc="-70" dirty="0">
                <a:solidFill>
                  <a:srgbClr val="974F5D"/>
                </a:solidFill>
                <a:latin typeface="Arial"/>
                <a:cs typeface="Arial"/>
              </a:rPr>
              <a:t> </a:t>
            </a:r>
            <a:r>
              <a:rPr sz="2300" spc="-150" dirty="0">
                <a:solidFill>
                  <a:srgbClr val="702D3D"/>
                </a:solidFill>
                <a:latin typeface="Arial"/>
                <a:cs typeface="Arial"/>
              </a:rPr>
              <a:t>manual</a:t>
            </a:r>
            <a:r>
              <a:rPr sz="2300" spc="90" dirty="0">
                <a:solidFill>
                  <a:srgbClr val="702D3D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87211F"/>
                </a:solidFill>
                <a:latin typeface="Arial"/>
                <a:cs typeface="Arial"/>
              </a:rPr>
              <a:t>vote</a:t>
            </a:r>
            <a:r>
              <a:rPr sz="2300" spc="-35" dirty="0">
                <a:solidFill>
                  <a:srgbClr val="87211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751A2B"/>
                </a:solidFill>
                <a:latin typeface="Arial"/>
                <a:cs typeface="Arial"/>
              </a:rPr>
              <a:t>counting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2300" spc="90" dirty="0">
                <a:solidFill>
                  <a:srgbClr val="9A181D"/>
                </a:solidFill>
                <a:latin typeface="Arial"/>
                <a:cs typeface="Arial"/>
              </a:rPr>
              <a:t>x</a:t>
            </a:r>
            <a:r>
              <a:rPr sz="2300" spc="-5" dirty="0">
                <a:solidFill>
                  <a:srgbClr val="9A181D"/>
                </a:solidFill>
                <a:latin typeface="Arial"/>
                <a:cs typeface="Arial"/>
              </a:rPr>
              <a:t>  </a:t>
            </a:r>
            <a:r>
              <a:rPr sz="2300" spc="-90" dirty="0">
                <a:solidFill>
                  <a:srgbClr val="7E2334"/>
                </a:solidFill>
                <a:latin typeface="Arial"/>
                <a:cs typeface="Arial"/>
              </a:rPr>
              <a:t>High</a:t>
            </a:r>
            <a:r>
              <a:rPr sz="2300" spc="-65" dirty="0">
                <a:solidFill>
                  <a:srgbClr val="7E2334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8E1C1F"/>
                </a:solidFill>
                <a:latin typeface="Arial"/>
                <a:cs typeface="Arial"/>
              </a:rPr>
              <a:t>operational</a:t>
            </a:r>
            <a:r>
              <a:rPr sz="2300" spc="75" dirty="0">
                <a:solidFill>
                  <a:srgbClr val="8E1C1F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E99CB5"/>
                </a:solidFill>
                <a:latin typeface="Arial"/>
                <a:cs typeface="Arial"/>
              </a:rPr>
              <a:t>costs</a:t>
            </a:r>
            <a:r>
              <a:rPr sz="2300" spc="-15" dirty="0">
                <a:solidFill>
                  <a:srgbClr val="E99CB5"/>
                </a:solidFill>
                <a:latin typeface="Arial"/>
                <a:cs typeface="Arial"/>
              </a:rPr>
              <a:t> </a:t>
            </a:r>
            <a:r>
              <a:rPr sz="2300" spc="-280" dirty="0">
                <a:solidFill>
                  <a:srgbClr val="8C1615"/>
                </a:solidFill>
                <a:latin typeface="Arial"/>
                <a:cs typeface="Arial"/>
              </a:rPr>
              <a:t>&amp;</a:t>
            </a:r>
            <a:r>
              <a:rPr sz="2300" spc="-45" dirty="0">
                <a:solidFill>
                  <a:srgbClr val="8C1615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752328"/>
                </a:solidFill>
                <a:latin typeface="Arial"/>
                <a:cs typeface="Arial"/>
              </a:rPr>
              <a:t>potential</a:t>
            </a:r>
            <a:r>
              <a:rPr sz="2300" spc="60" dirty="0">
                <a:solidFill>
                  <a:srgbClr val="752328"/>
                </a:solidFill>
                <a:latin typeface="Arial"/>
                <a:cs typeface="Arial"/>
              </a:rPr>
              <a:t> </a:t>
            </a:r>
            <a:r>
              <a:rPr sz="2300" spc="-190" dirty="0">
                <a:solidFill>
                  <a:srgbClr val="74283D"/>
                </a:solidFill>
                <a:latin typeface="Arial"/>
                <a:cs typeface="Arial"/>
              </a:rPr>
              <a:t>human</a:t>
            </a:r>
            <a:r>
              <a:rPr sz="2300" dirty="0">
                <a:solidFill>
                  <a:srgbClr val="74283D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A34146"/>
                </a:solidFill>
                <a:latin typeface="Arial"/>
                <a:cs typeface="Arial"/>
              </a:rPr>
              <a:t>error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89453" y="2949251"/>
            <a:ext cx="5448935" cy="2792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solidFill>
                  <a:srgbClr val="13A549"/>
                </a:solidFill>
                <a:latin typeface="Arial"/>
                <a:cs typeface="Arial"/>
              </a:rPr>
              <a:t>@</a:t>
            </a:r>
            <a:r>
              <a:rPr sz="2800" spc="160" dirty="0">
                <a:solidFill>
                  <a:srgbClr val="13A549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2AA854"/>
                </a:solidFill>
                <a:latin typeface="Arial"/>
                <a:cs typeface="Arial"/>
              </a:rPr>
              <a:t>Cloud-</a:t>
            </a:r>
            <a:r>
              <a:rPr sz="2800" spc="-40" dirty="0">
                <a:solidFill>
                  <a:srgbClr val="2AA854"/>
                </a:solidFill>
                <a:latin typeface="Arial"/>
                <a:cs typeface="Arial"/>
              </a:rPr>
              <a:t>Based </a:t>
            </a:r>
            <a:r>
              <a:rPr sz="2800" spc="-10" dirty="0">
                <a:solidFill>
                  <a:srgbClr val="0C953D"/>
                </a:solidFill>
                <a:latin typeface="Arial"/>
                <a:cs typeface="Arial"/>
              </a:rPr>
              <a:t>Solution</a:t>
            </a:r>
            <a:endParaRPr sz="28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2310"/>
              </a:spcBef>
            </a:pPr>
            <a:r>
              <a:rPr sz="2200" spc="125" dirty="0">
                <a:solidFill>
                  <a:srgbClr val="185B34"/>
                </a:solidFill>
                <a:latin typeface="Arial"/>
                <a:cs typeface="Arial"/>
              </a:rPr>
              <a:t>w</a:t>
            </a:r>
            <a:r>
              <a:rPr sz="2200" spc="25" dirty="0">
                <a:solidFill>
                  <a:srgbClr val="185B34"/>
                </a:solidFill>
                <a:latin typeface="Arial"/>
                <a:cs typeface="Arial"/>
              </a:rPr>
              <a:t>  </a:t>
            </a:r>
            <a:r>
              <a:rPr sz="2200" spc="-114" dirty="0">
                <a:solidFill>
                  <a:srgbClr val="3F7770"/>
                </a:solidFill>
                <a:latin typeface="Arial"/>
                <a:cs typeface="Arial"/>
              </a:rPr>
              <a:t>Remote</a:t>
            </a:r>
            <a:r>
              <a:rPr sz="2200" spc="60" dirty="0">
                <a:solidFill>
                  <a:srgbClr val="3F7770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A603F"/>
                </a:solidFill>
                <a:latin typeface="Arial"/>
                <a:cs typeface="Arial"/>
              </a:rPr>
              <a:t>electronic</a:t>
            </a:r>
            <a:r>
              <a:rPr sz="2200" spc="114" dirty="0">
                <a:solidFill>
                  <a:srgbClr val="2A603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136E3B"/>
                </a:solidFill>
                <a:latin typeface="Arial"/>
                <a:cs typeface="Arial"/>
              </a:rPr>
              <a:t>voting </a:t>
            </a:r>
            <a:r>
              <a:rPr sz="2200" spc="-10" dirty="0">
                <a:solidFill>
                  <a:srgbClr val="82B8A1"/>
                </a:solidFill>
                <a:latin typeface="Arial"/>
                <a:cs typeface="Arial"/>
              </a:rPr>
              <a:t>accessibility</a:t>
            </a:r>
            <a:endParaRPr sz="2200">
              <a:latin typeface="Arial"/>
              <a:cs typeface="Arial"/>
            </a:endParaRPr>
          </a:p>
          <a:p>
            <a:pPr marL="31115" marR="5080">
              <a:lnSpc>
                <a:spcPct val="159100"/>
              </a:lnSpc>
              <a:spcBef>
                <a:spcPts val="140"/>
              </a:spcBef>
            </a:pPr>
            <a:r>
              <a:rPr sz="2300" dirty="0">
                <a:solidFill>
                  <a:srgbClr val="165D33"/>
                </a:solidFill>
                <a:latin typeface="Arial"/>
                <a:cs typeface="Arial"/>
              </a:rPr>
              <a:t>w</a:t>
            </a:r>
            <a:r>
              <a:rPr sz="2300" spc="10" dirty="0">
                <a:solidFill>
                  <a:srgbClr val="165D33"/>
                </a:solidFill>
                <a:latin typeface="Arial"/>
                <a:cs typeface="Arial"/>
              </a:rPr>
              <a:t>  </a:t>
            </a:r>
            <a:r>
              <a:rPr sz="2300" spc="-100" dirty="0">
                <a:solidFill>
                  <a:srgbClr val="527767"/>
                </a:solidFill>
                <a:latin typeface="Arial"/>
                <a:cs typeface="Arial"/>
              </a:rPr>
              <a:t>Centralized,</a:t>
            </a:r>
            <a:r>
              <a:rPr sz="2300" spc="95" dirty="0">
                <a:solidFill>
                  <a:srgbClr val="527767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5D8260"/>
                </a:solidFill>
                <a:latin typeface="Arial"/>
                <a:cs typeface="Arial"/>
              </a:rPr>
              <a:t>encrypted</a:t>
            </a:r>
            <a:r>
              <a:rPr sz="2300" spc="5" dirty="0">
                <a:solidFill>
                  <a:srgbClr val="5D8260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54755D"/>
                </a:solidFill>
                <a:latin typeface="Arial"/>
                <a:cs typeface="Arial"/>
              </a:rPr>
              <a:t>cloud</a:t>
            </a:r>
            <a:r>
              <a:rPr sz="2300" spc="-15" dirty="0">
                <a:solidFill>
                  <a:srgbClr val="54755D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74AF97"/>
                </a:solidFill>
                <a:latin typeface="Arial"/>
                <a:cs typeface="Arial"/>
              </a:rPr>
              <a:t>data</a:t>
            </a:r>
            <a:r>
              <a:rPr sz="2300" spc="50" dirty="0">
                <a:solidFill>
                  <a:srgbClr val="74AF97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336446"/>
                </a:solidFill>
                <a:latin typeface="Arial"/>
                <a:cs typeface="Arial"/>
              </a:rPr>
              <a:t>storage </a:t>
            </a:r>
            <a:r>
              <a:rPr sz="2300" dirty="0">
                <a:solidFill>
                  <a:srgbClr val="185B34"/>
                </a:solidFill>
                <a:latin typeface="Arial"/>
                <a:cs typeface="Arial"/>
              </a:rPr>
              <a:t>w</a:t>
            </a:r>
            <a:r>
              <a:rPr sz="2300" spc="15" dirty="0">
                <a:solidFill>
                  <a:srgbClr val="185B34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srgbClr val="3B7972"/>
                </a:solidFill>
                <a:latin typeface="Arial"/>
                <a:cs typeface="Arial"/>
              </a:rPr>
              <a:t>Instant</a:t>
            </a:r>
            <a:r>
              <a:rPr sz="2300" spc="70" dirty="0">
                <a:solidFill>
                  <a:srgbClr val="3B7972"/>
                </a:solidFill>
                <a:latin typeface="Arial"/>
                <a:cs typeface="Arial"/>
              </a:rPr>
              <a:t> </a:t>
            </a:r>
            <a:r>
              <a:rPr sz="2300" spc="-114" dirty="0">
                <a:solidFill>
                  <a:srgbClr val="1D6746"/>
                </a:solidFill>
                <a:latin typeface="Arial"/>
                <a:cs typeface="Arial"/>
              </a:rPr>
              <a:t>automated</a:t>
            </a:r>
            <a:r>
              <a:rPr sz="2300" spc="90" dirty="0">
                <a:solidFill>
                  <a:srgbClr val="1D6746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1C6B49"/>
                </a:solidFill>
                <a:latin typeface="Arial"/>
                <a:cs typeface="Arial"/>
              </a:rPr>
              <a:t>vote</a:t>
            </a:r>
            <a:r>
              <a:rPr sz="2300" spc="-65" dirty="0">
                <a:solidFill>
                  <a:srgbClr val="1C6B49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4704F"/>
                </a:solidFill>
                <a:latin typeface="Arial"/>
                <a:cs typeface="Arial"/>
              </a:rPr>
              <a:t>tallying</a:t>
            </a:r>
            <a:endParaRPr sz="23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1755"/>
              </a:spcBef>
            </a:pPr>
            <a:r>
              <a:rPr sz="2300" dirty="0">
                <a:solidFill>
                  <a:srgbClr val="165D33"/>
                </a:solidFill>
                <a:latin typeface="Arial"/>
                <a:cs typeface="Arial"/>
              </a:rPr>
              <a:t>w</a:t>
            </a:r>
            <a:r>
              <a:rPr sz="2300" spc="15" dirty="0">
                <a:solidFill>
                  <a:srgbClr val="165D33"/>
                </a:solidFill>
                <a:latin typeface="Arial"/>
                <a:cs typeface="Arial"/>
              </a:rPr>
              <a:t>  </a:t>
            </a:r>
            <a:r>
              <a:rPr sz="2300" spc="-70" dirty="0">
                <a:solidFill>
                  <a:srgbClr val="649587"/>
                </a:solidFill>
                <a:latin typeface="Arial"/>
                <a:cs typeface="Arial"/>
              </a:rPr>
              <a:t>Strict</a:t>
            </a:r>
            <a:r>
              <a:rPr sz="2300" spc="50" dirty="0">
                <a:solidFill>
                  <a:srgbClr val="649587"/>
                </a:solidFill>
                <a:latin typeface="Arial"/>
                <a:cs typeface="Arial"/>
              </a:rPr>
              <a:t> </a:t>
            </a:r>
            <a:r>
              <a:rPr sz="2300" spc="-110" dirty="0">
                <a:solidFill>
                  <a:srgbClr val="265D3D"/>
                </a:solidFill>
                <a:latin typeface="Arial"/>
                <a:cs typeface="Arial"/>
              </a:rPr>
              <a:t>single-</a:t>
            </a:r>
            <a:r>
              <a:rPr sz="2300" spc="-45" dirty="0">
                <a:solidFill>
                  <a:srgbClr val="265D3D"/>
                </a:solidFill>
                <a:latin typeface="Arial"/>
                <a:cs typeface="Arial"/>
              </a:rPr>
              <a:t>vote</a:t>
            </a:r>
            <a:r>
              <a:rPr sz="2300" spc="100" dirty="0">
                <a:solidFill>
                  <a:srgbClr val="265D3D"/>
                </a:solidFill>
                <a:latin typeface="Arial"/>
                <a:cs typeface="Arial"/>
              </a:rPr>
              <a:t> </a:t>
            </a:r>
            <a:r>
              <a:rPr sz="2300" spc="-100" dirty="0">
                <a:solidFill>
                  <a:srgbClr val="166246"/>
                </a:solidFill>
                <a:latin typeface="Arial"/>
                <a:cs typeface="Arial"/>
              </a:rPr>
              <a:t>prevention</a:t>
            </a:r>
            <a:r>
              <a:rPr sz="2300" spc="40" dirty="0">
                <a:solidFill>
                  <a:srgbClr val="16624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F5D3D"/>
                </a:solidFill>
                <a:latin typeface="Arial"/>
                <a:cs typeface="Arial"/>
              </a:rPr>
              <a:t>checks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1313" y="6849002"/>
            <a:ext cx="1281303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dirty="0">
                <a:solidFill>
                  <a:srgbClr val="2844A8"/>
                </a:solidFill>
                <a:latin typeface="Arial"/>
                <a:cs typeface="Arial"/>
              </a:rPr>
              <a:t>Key</a:t>
            </a:r>
            <a:r>
              <a:rPr sz="1900" spc="145" dirty="0">
                <a:solidFill>
                  <a:srgbClr val="2844A8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1C3FAE"/>
                </a:solidFill>
                <a:latin typeface="Arial"/>
                <a:cs typeface="Arial"/>
              </a:rPr>
              <a:t>Advantage:</a:t>
            </a:r>
            <a:r>
              <a:rPr sz="1900" spc="95" dirty="0">
                <a:solidFill>
                  <a:srgbClr val="1C3FAE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63AA1"/>
                </a:solidFill>
                <a:latin typeface="Arial"/>
                <a:cs typeface="Arial"/>
              </a:rPr>
              <a:t>High</a:t>
            </a:r>
            <a:r>
              <a:rPr sz="1900" spc="75" dirty="0">
                <a:solidFill>
                  <a:srgbClr val="263AA1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566BC3"/>
                </a:solidFill>
                <a:latin typeface="Arial"/>
                <a:cs typeface="Arial"/>
              </a:rPr>
              <a:t>accessibility,</a:t>
            </a:r>
            <a:r>
              <a:rPr sz="1900" spc="90" dirty="0">
                <a:solidFill>
                  <a:srgbClr val="566BC3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6449C"/>
                </a:solidFill>
                <a:latin typeface="Arial"/>
                <a:cs typeface="Arial"/>
              </a:rPr>
              <a:t>lower</a:t>
            </a:r>
            <a:r>
              <a:rPr sz="1900" spc="220" dirty="0">
                <a:solidFill>
                  <a:srgbClr val="26449C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5262B5"/>
                </a:solidFill>
                <a:latin typeface="Arial"/>
                <a:cs typeface="Arial"/>
              </a:rPr>
              <a:t>administrative</a:t>
            </a:r>
            <a:r>
              <a:rPr sz="1900" spc="10" dirty="0">
                <a:solidFill>
                  <a:srgbClr val="5262B5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3D5289"/>
                </a:solidFill>
                <a:latin typeface="Arial"/>
                <a:cs typeface="Arial"/>
              </a:rPr>
              <a:t>overhead,</a:t>
            </a:r>
            <a:r>
              <a:rPr sz="1900" spc="170" dirty="0">
                <a:solidFill>
                  <a:srgbClr val="3D5289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566BC3"/>
                </a:solidFill>
                <a:latin typeface="Arial"/>
                <a:cs typeface="Arial"/>
              </a:rPr>
              <a:t>and</a:t>
            </a:r>
            <a:r>
              <a:rPr sz="1900" spc="80" dirty="0">
                <a:solidFill>
                  <a:srgbClr val="566BC3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3442AC"/>
                </a:solidFill>
                <a:latin typeface="Arial"/>
                <a:cs typeface="Arial"/>
              </a:rPr>
              <a:t>zero</a:t>
            </a:r>
            <a:r>
              <a:rPr sz="1900" spc="95" dirty="0">
                <a:solidFill>
                  <a:srgbClr val="3442AC"/>
                </a:solidFill>
                <a:latin typeface="Arial"/>
                <a:cs typeface="Arial"/>
              </a:rPr>
              <a:t> </a:t>
            </a:r>
            <a:r>
              <a:rPr sz="1900" spc="60" dirty="0">
                <a:solidFill>
                  <a:srgbClr val="8090EB"/>
                </a:solidFill>
                <a:latin typeface="Arial"/>
                <a:cs typeface="Arial"/>
              </a:rPr>
              <a:t>physical</a:t>
            </a:r>
            <a:r>
              <a:rPr sz="1900" spc="105" dirty="0">
                <a:solidFill>
                  <a:srgbClr val="8090EB"/>
                </a:solidFill>
                <a:latin typeface="Arial"/>
                <a:cs typeface="Arial"/>
              </a:rPr>
              <a:t> </a:t>
            </a:r>
            <a:r>
              <a:rPr sz="1900" spc="80" dirty="0">
                <a:solidFill>
                  <a:srgbClr val="1F4295"/>
                </a:solidFill>
                <a:latin typeface="Arial"/>
                <a:cs typeface="Arial"/>
              </a:rPr>
              <a:t>infrastructure</a:t>
            </a:r>
            <a:r>
              <a:rPr sz="1900" spc="-20" dirty="0">
                <a:solidFill>
                  <a:srgbClr val="1F4295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63BA5"/>
                </a:solidFill>
                <a:latin typeface="Arial"/>
                <a:cs typeface="Arial"/>
              </a:rPr>
              <a:t>dependency.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249223" y="975489"/>
            <a:ext cx="2062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3A6BC4"/>
                </a:solidFill>
                <a:latin typeface="Arial"/>
                <a:cs typeface="Arial"/>
              </a:rPr>
              <a:t>SY</a:t>
            </a:r>
            <a:r>
              <a:rPr sz="1800" spc="-170" dirty="0">
                <a:solidFill>
                  <a:srgbClr val="3A6BC4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2D62D6"/>
                </a:solidFill>
                <a:latin typeface="Arial"/>
                <a:cs typeface="Arial"/>
              </a:rPr>
              <a:t>STE</a:t>
            </a:r>
            <a:r>
              <a:rPr sz="1800" spc="-204" dirty="0">
                <a:solidFill>
                  <a:srgbClr val="2D62D6"/>
                </a:solidFill>
                <a:latin typeface="Arial"/>
                <a:cs typeface="Arial"/>
              </a:rPr>
              <a:t> </a:t>
            </a:r>
            <a:r>
              <a:rPr sz="1800" spc="120" dirty="0">
                <a:solidFill>
                  <a:srgbClr val="2A66DD"/>
                </a:solidFill>
                <a:latin typeface="Arial"/>
                <a:cs typeface="Arial"/>
              </a:rPr>
              <a:t>M</a:t>
            </a:r>
            <a:r>
              <a:rPr sz="1800" spc="180" dirty="0">
                <a:solidFill>
                  <a:srgbClr val="2A66DD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185DFB"/>
                </a:solidFill>
                <a:latin typeface="Arial"/>
                <a:cs typeface="Arial"/>
              </a:rPr>
              <a:t>DE</a:t>
            </a:r>
            <a:r>
              <a:rPr sz="1800" spc="-105" dirty="0">
                <a:solidFill>
                  <a:srgbClr val="185DF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A6EE2"/>
                </a:solidFill>
                <a:latin typeface="Arial"/>
                <a:cs typeface="Arial"/>
              </a:rPr>
              <a:t>SI</a:t>
            </a:r>
            <a:r>
              <a:rPr sz="1800" dirty="0">
                <a:solidFill>
                  <a:srgbClr val="1C56C3"/>
                </a:solidFill>
                <a:latin typeface="Arial"/>
                <a:cs typeface="Arial"/>
              </a:rPr>
              <a:t>G</a:t>
            </a:r>
            <a:r>
              <a:rPr sz="1800" spc="-270" dirty="0">
                <a:solidFill>
                  <a:srgbClr val="1C56C3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1C67EB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350" spc="-210" dirty="0">
                <a:solidFill>
                  <a:srgbClr val="131313"/>
                </a:solidFill>
                <a:latin typeface="Arial"/>
                <a:cs typeface="Arial"/>
              </a:rPr>
              <a:t>AWS</a:t>
            </a:r>
            <a:r>
              <a:rPr sz="4350" spc="-229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4350" dirty="0">
                <a:solidFill>
                  <a:srgbClr val="181818"/>
                </a:solidFill>
                <a:latin typeface="Arial"/>
                <a:cs typeface="Arial"/>
              </a:rPr>
              <a:t>Cloud</a:t>
            </a:r>
            <a:r>
              <a:rPr sz="4350" spc="-12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4350" spc="40" dirty="0">
                <a:solidFill>
                  <a:srgbClr val="131313"/>
                </a:solidFill>
                <a:latin typeface="Arial"/>
                <a:cs typeface="Arial"/>
              </a:rPr>
              <a:t>Architecture</a:t>
            </a:r>
            <a:endParaRPr sz="4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0565" y="3132303"/>
            <a:ext cx="1590675" cy="1740535"/>
          </a:xfrm>
          <a:prstGeom prst="rect">
            <a:avLst/>
          </a:prstGeom>
        </p:spPr>
        <p:txBody>
          <a:bodyPr vert="horz" wrap="square" lIns="0" tIns="249555" rIns="0" bIns="0" rtlCol="0">
            <a:spAutoFit/>
          </a:bodyPr>
          <a:lstStyle/>
          <a:p>
            <a:pPr marR="40640" algn="ctr">
              <a:lnSpc>
                <a:spcPct val="100000"/>
              </a:lnSpc>
              <a:spcBef>
                <a:spcPts val="1965"/>
              </a:spcBef>
            </a:pPr>
            <a:r>
              <a:rPr sz="5650" spc="-994" dirty="0">
                <a:solidFill>
                  <a:srgbClr val="2664DD"/>
                </a:solidFill>
                <a:latin typeface="Arial"/>
                <a:cs typeface="Arial"/>
              </a:rPr>
              <a:t>B</a:t>
            </a:r>
            <a:endParaRPr sz="5650">
              <a:latin typeface="Arial"/>
              <a:cs typeface="Arial"/>
            </a:endParaRPr>
          </a:p>
          <a:p>
            <a:pPr marL="12700" marR="5080" indent="635" algn="ctr">
              <a:lnSpc>
                <a:spcPts val="2100"/>
              </a:lnSpc>
              <a:spcBef>
                <a:spcPts val="715"/>
              </a:spcBef>
            </a:pPr>
            <a:r>
              <a:rPr sz="1800" spc="180" dirty="0">
                <a:solidFill>
                  <a:srgbClr val="1C1C1C"/>
                </a:solidFill>
                <a:latin typeface="Arial"/>
                <a:cs typeface="Arial"/>
              </a:rPr>
              <a:t>Voter</a:t>
            </a:r>
            <a:r>
              <a:rPr sz="1800" spc="22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800" spc="190" dirty="0">
                <a:solidFill>
                  <a:srgbClr val="1D3150"/>
                </a:solidFill>
                <a:latin typeface="Arial"/>
                <a:cs typeface="Arial"/>
              </a:rPr>
              <a:t>App </a:t>
            </a:r>
            <a:r>
              <a:rPr sz="1800" spc="-70" dirty="0">
                <a:solidFill>
                  <a:srgbClr val="626262"/>
                </a:solidFill>
                <a:latin typeface="Arial"/>
                <a:cs typeface="Arial"/>
              </a:rPr>
              <a:t>Web</a:t>
            </a:r>
            <a:r>
              <a:rPr sz="1800" spc="5" dirty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757575"/>
                </a:solidFill>
                <a:latin typeface="Arial"/>
                <a:cs typeface="Arial"/>
              </a:rPr>
              <a:t>/</a:t>
            </a:r>
            <a:r>
              <a:rPr sz="1800" spc="2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66666"/>
                </a:solidFill>
                <a:latin typeface="Arial"/>
                <a:cs typeface="Arial"/>
              </a:rPr>
              <a:t>Mobile</a:t>
            </a:r>
            <a:r>
              <a:rPr sz="1800" spc="2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800" spc="-114" dirty="0">
                <a:solidFill>
                  <a:srgbClr val="6B6B6B"/>
                </a:solidFill>
                <a:latin typeface="Arial"/>
                <a:cs typeface="Arial"/>
              </a:rPr>
              <a:t>U</a:t>
            </a:r>
            <a:r>
              <a:rPr sz="1800" spc="-114" dirty="0">
                <a:solidFill>
                  <a:srgbClr val="8C93A3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7189" y="3667427"/>
            <a:ext cx="549721" cy="43977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044668" y="4272510"/>
            <a:ext cx="2016760" cy="6000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2405"/>
              </a:lnSpc>
              <a:spcBef>
                <a:spcPts val="110"/>
              </a:spcBef>
            </a:pPr>
            <a:r>
              <a:rPr sz="2050" dirty="0">
                <a:solidFill>
                  <a:srgbClr val="1D1D1D"/>
                </a:solidFill>
                <a:latin typeface="Arial"/>
                <a:cs typeface="Arial"/>
              </a:rPr>
              <a:t>CloudFront</a:t>
            </a:r>
            <a:r>
              <a:rPr sz="2050" spc="48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232323"/>
                </a:solidFill>
                <a:latin typeface="Arial"/>
                <a:cs typeface="Arial"/>
              </a:rPr>
              <a:t>+</a:t>
            </a:r>
            <a:r>
              <a:rPr sz="2050" spc="12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1F1F1F"/>
                </a:solidFill>
                <a:latin typeface="Arial"/>
                <a:cs typeface="Arial"/>
              </a:rPr>
              <a:t>S3</a:t>
            </a:r>
            <a:endParaRPr sz="2050">
              <a:latin typeface="Arial"/>
              <a:cs typeface="Arial"/>
            </a:endParaRPr>
          </a:p>
          <a:p>
            <a:pPr algn="ctr">
              <a:lnSpc>
                <a:spcPts val="2105"/>
              </a:lnSpc>
            </a:pPr>
            <a:r>
              <a:rPr sz="1800" spc="-70" dirty="0">
                <a:solidFill>
                  <a:srgbClr val="626262"/>
                </a:solidFill>
                <a:latin typeface="Arial"/>
                <a:cs typeface="Arial"/>
              </a:rPr>
              <a:t>Static</a:t>
            </a:r>
            <a:r>
              <a:rPr sz="1800" spc="35" dirty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96969"/>
                </a:solidFill>
                <a:latin typeface="Arial"/>
                <a:cs typeface="Arial"/>
              </a:rPr>
              <a:t>H</a:t>
            </a:r>
            <a:r>
              <a:rPr sz="1800" spc="-70" dirty="0">
                <a:solidFill>
                  <a:srgbClr val="666666"/>
                </a:solidFill>
                <a:latin typeface="Arial"/>
                <a:cs typeface="Arial"/>
              </a:rPr>
              <a:t>ostin</a:t>
            </a:r>
            <a:r>
              <a:rPr sz="1800" spc="-29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6E6E6E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43140" y="4305231"/>
            <a:ext cx="1695450" cy="56769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49530">
              <a:lnSpc>
                <a:spcPts val="2100"/>
              </a:lnSpc>
              <a:spcBef>
                <a:spcPts val="220"/>
              </a:spcBef>
            </a:pPr>
            <a:r>
              <a:rPr sz="1800" dirty="0">
                <a:solidFill>
                  <a:srgbClr val="232323"/>
                </a:solidFill>
                <a:latin typeface="Arial"/>
                <a:cs typeface="Arial"/>
              </a:rPr>
              <a:t>API</a:t>
            </a:r>
            <a:r>
              <a:rPr sz="1800" spc="375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800" spc="170" dirty="0">
                <a:solidFill>
                  <a:srgbClr val="161616"/>
                </a:solidFill>
                <a:latin typeface="Arial"/>
                <a:cs typeface="Arial"/>
              </a:rPr>
              <a:t>Gateway </a:t>
            </a:r>
            <a:r>
              <a:rPr sz="1800" spc="-270" dirty="0">
                <a:solidFill>
                  <a:srgbClr val="666666"/>
                </a:solidFill>
                <a:latin typeface="Arial"/>
                <a:cs typeface="Arial"/>
              </a:rPr>
              <a:t>REST</a:t>
            </a:r>
            <a:r>
              <a:rPr sz="1800" spc="240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800" spc="-160" dirty="0">
                <a:solidFill>
                  <a:srgbClr val="696969"/>
                </a:solidFill>
                <a:latin typeface="Arial"/>
                <a:cs typeface="Arial"/>
              </a:rPr>
              <a:t>API</a:t>
            </a:r>
            <a:r>
              <a:rPr sz="1800" spc="2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200" dirty="0">
                <a:solidFill>
                  <a:srgbClr val="5B5B5B"/>
                </a:solidFill>
                <a:latin typeface="Arial"/>
                <a:cs typeface="Arial"/>
              </a:rPr>
              <a:t>Rou1in</a:t>
            </a:r>
            <a:r>
              <a:rPr sz="1800" spc="-220" dirty="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B6B6B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9280" y="6141174"/>
            <a:ext cx="345539" cy="4554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195503" y="6786831"/>
            <a:ext cx="1699260" cy="56769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34925">
              <a:lnSpc>
                <a:spcPts val="2100"/>
              </a:lnSpc>
              <a:spcBef>
                <a:spcPts val="220"/>
              </a:spcBef>
              <a:tabLst>
                <a:tab pos="697865" algn="l"/>
              </a:tabLst>
            </a:pPr>
            <a:r>
              <a:rPr sz="1800" spc="-25" dirty="0">
                <a:solidFill>
                  <a:srgbClr val="212121"/>
                </a:solidFill>
                <a:latin typeface="Arial"/>
                <a:cs typeface="Arial"/>
              </a:rPr>
              <a:t>AWS</a:t>
            </a:r>
            <a:r>
              <a:rPr sz="1800" dirty="0">
                <a:solidFill>
                  <a:srgbClr val="212121"/>
                </a:solidFill>
                <a:latin typeface="Arial"/>
                <a:cs typeface="Arial"/>
              </a:rPr>
              <a:t>	</a:t>
            </a:r>
            <a:r>
              <a:rPr sz="1800" spc="165" dirty="0">
                <a:solidFill>
                  <a:srgbClr val="1C1C1C"/>
                </a:solidFill>
                <a:latin typeface="Arial"/>
                <a:cs typeface="Arial"/>
              </a:rPr>
              <a:t>Lambda </a:t>
            </a:r>
            <a:r>
              <a:rPr sz="1800" spc="-50" dirty="0">
                <a:solidFill>
                  <a:srgbClr val="696969"/>
                </a:solidFill>
                <a:latin typeface="Arial"/>
                <a:cs typeface="Arial"/>
              </a:rPr>
              <a:t>Cast</a:t>
            </a:r>
            <a:r>
              <a:rPr sz="1800" spc="-7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265" dirty="0">
                <a:solidFill>
                  <a:srgbClr val="647583"/>
                </a:solidFill>
                <a:latin typeface="Arial"/>
                <a:cs typeface="Arial"/>
              </a:rPr>
              <a:t>&amp;</a:t>
            </a:r>
            <a:r>
              <a:rPr sz="1800" spc="80" dirty="0">
                <a:solidFill>
                  <a:srgbClr val="647583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6B6B6B"/>
                </a:solidFill>
                <a:latin typeface="Arial"/>
                <a:cs typeface="Arial"/>
              </a:rPr>
              <a:t>Tally</a:t>
            </a:r>
            <a:r>
              <a:rPr sz="1800" spc="-10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646464"/>
                </a:solidFill>
                <a:latin typeface="Arial"/>
                <a:cs typeface="Arial"/>
              </a:rPr>
              <a:t>Logic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438674" y="6737749"/>
            <a:ext cx="1497330" cy="616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">
              <a:lnSpc>
                <a:spcPts val="2570"/>
              </a:lnSpc>
              <a:spcBef>
                <a:spcPts val="90"/>
              </a:spcBef>
            </a:pPr>
            <a:r>
              <a:rPr sz="2200" spc="-10" dirty="0">
                <a:solidFill>
                  <a:srgbClr val="1A1A1A"/>
                </a:solidFill>
                <a:latin typeface="Arial"/>
                <a:cs typeface="Arial"/>
              </a:rPr>
              <a:t>DynamoDB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ts val="2090"/>
              </a:lnSpc>
            </a:pPr>
            <a:r>
              <a:rPr sz="1800" spc="-70" dirty="0">
                <a:solidFill>
                  <a:srgbClr val="626262"/>
                </a:solidFill>
                <a:latin typeface="Arial"/>
                <a:cs typeface="Arial"/>
              </a:rPr>
              <a:t>Votes</a:t>
            </a:r>
            <a:r>
              <a:rPr sz="1800" spc="-5" dirty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sz="1800" spc="-340" dirty="0">
                <a:solidFill>
                  <a:srgbClr val="67758E"/>
                </a:solidFill>
                <a:latin typeface="Arial"/>
                <a:cs typeface="Arial"/>
              </a:rPr>
              <a:t>&amp;</a:t>
            </a:r>
            <a:r>
              <a:rPr sz="1800" spc="114" dirty="0">
                <a:solidFill>
                  <a:srgbClr val="67758E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696969"/>
                </a:solidFill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4136" y="8826956"/>
            <a:ext cx="188475" cy="188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1311" y="8991872"/>
            <a:ext cx="463336" cy="21203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50096" y="8734415"/>
            <a:ext cx="2418715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ts val="2130"/>
              </a:lnSpc>
              <a:spcBef>
                <a:spcPts val="100"/>
              </a:spcBef>
            </a:pPr>
            <a:r>
              <a:rPr sz="1800" spc="50" dirty="0">
                <a:solidFill>
                  <a:srgbClr val="1A1A1A"/>
                </a:solidFill>
                <a:latin typeface="Arial"/>
                <a:cs typeface="Arial"/>
              </a:rPr>
              <a:t>AWS</a:t>
            </a:r>
            <a:r>
              <a:rPr sz="1800" spc="8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212121"/>
                </a:solidFill>
                <a:latin typeface="Arial"/>
                <a:cs typeface="Arial"/>
              </a:rPr>
              <a:t>Cognito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0"/>
              </a:lnSpc>
            </a:pPr>
            <a:r>
              <a:rPr sz="1800" spc="-50" dirty="0">
                <a:solidFill>
                  <a:srgbClr val="828282"/>
                </a:solidFill>
                <a:latin typeface="Arial"/>
                <a:cs typeface="Arial"/>
              </a:rPr>
              <a:t>Voter</a:t>
            </a:r>
            <a:r>
              <a:rPr sz="1800" spc="-15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96969"/>
                </a:solidFill>
                <a:latin typeface="Arial"/>
                <a:cs typeface="Arial"/>
              </a:rPr>
              <a:t>Identity</a:t>
            </a:r>
            <a:r>
              <a:rPr sz="1800" spc="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696969"/>
                </a:solidFill>
                <a:latin typeface="Arial"/>
                <a:cs typeface="Arial"/>
              </a:rPr>
              <a:t>Verification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98401" y="8734415"/>
            <a:ext cx="80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0C7BCF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29473" y="8734415"/>
            <a:ext cx="2806700" cy="56769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2225" marR="5080" indent="-10160">
              <a:lnSpc>
                <a:spcPts val="2100"/>
              </a:lnSpc>
              <a:spcBef>
                <a:spcPts val="220"/>
              </a:spcBef>
            </a:pPr>
            <a:r>
              <a:rPr sz="1800" spc="120" dirty="0">
                <a:solidFill>
                  <a:srgbClr val="1F1F1F"/>
                </a:solidFill>
                <a:latin typeface="Arial"/>
                <a:cs typeface="Arial"/>
              </a:rPr>
              <a:t>CloudWatch</a:t>
            </a:r>
            <a:r>
              <a:rPr sz="1800" spc="12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2A2A2A"/>
                </a:solidFill>
                <a:latin typeface="Arial"/>
                <a:cs typeface="Arial"/>
              </a:rPr>
              <a:t>/</a:t>
            </a:r>
            <a:r>
              <a:rPr sz="1800" spc="9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1C1C1C"/>
                </a:solidFill>
                <a:latin typeface="Arial"/>
                <a:cs typeface="Arial"/>
              </a:rPr>
              <a:t>CloudTrail </a:t>
            </a:r>
            <a:r>
              <a:rPr sz="1800" spc="-55" dirty="0">
                <a:solidFill>
                  <a:srgbClr val="666E80"/>
                </a:solidFill>
                <a:latin typeface="Arial"/>
                <a:cs typeface="Arial"/>
              </a:rPr>
              <a:t>M</a:t>
            </a:r>
            <a:r>
              <a:rPr sz="1800" spc="-55" dirty="0">
                <a:solidFill>
                  <a:srgbClr val="646464"/>
                </a:solidFill>
                <a:latin typeface="Arial"/>
                <a:cs typeface="Arial"/>
              </a:rPr>
              <a:t>onitor</a:t>
            </a:r>
            <a:r>
              <a:rPr sz="1800" spc="-305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B647E"/>
                </a:solidFill>
                <a:latin typeface="Arial"/>
                <a:cs typeface="Arial"/>
              </a:rPr>
              <a:t>in</a:t>
            </a:r>
            <a:r>
              <a:rPr sz="1800" dirty="0">
                <a:solidFill>
                  <a:srgbClr val="8090A1"/>
                </a:solidFill>
                <a:latin typeface="Arial"/>
                <a:cs typeface="Arial"/>
              </a:rPr>
              <a:t>g</a:t>
            </a:r>
            <a:r>
              <a:rPr sz="1800" spc="-65" dirty="0">
                <a:solidFill>
                  <a:srgbClr val="8090A1"/>
                </a:solidFill>
                <a:latin typeface="Arial"/>
                <a:cs typeface="Arial"/>
              </a:rPr>
              <a:t> </a:t>
            </a:r>
            <a:r>
              <a:rPr sz="1800" spc="-265" dirty="0">
                <a:solidFill>
                  <a:srgbClr val="5E6E80"/>
                </a:solidFill>
                <a:latin typeface="Arial"/>
                <a:cs typeface="Arial"/>
              </a:rPr>
              <a:t>&amp;</a:t>
            </a:r>
            <a:r>
              <a:rPr sz="1800" spc="60" dirty="0">
                <a:solidFill>
                  <a:srgbClr val="5E6E80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526275"/>
                </a:solidFill>
                <a:latin typeface="Arial"/>
                <a:cs typeface="Arial"/>
              </a:rPr>
              <a:t>Au</a:t>
            </a:r>
            <a:r>
              <a:rPr sz="1800" spc="-35" dirty="0">
                <a:solidFill>
                  <a:srgbClr val="6E7787"/>
                </a:solidFill>
                <a:latin typeface="Arial"/>
                <a:cs typeface="Arial"/>
              </a:rPr>
              <a:t>dit</a:t>
            </a:r>
            <a:r>
              <a:rPr sz="1800" spc="25" dirty="0">
                <a:solidFill>
                  <a:srgbClr val="6E7787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7C808E"/>
                </a:solidFill>
                <a:latin typeface="Arial"/>
                <a:cs typeface="Arial"/>
              </a:rPr>
              <a:t>Logs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657" y="926407"/>
            <a:ext cx="303466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385" dirty="0">
                <a:solidFill>
                  <a:srgbClr val="2D5EDF"/>
                </a:solidFill>
                <a:latin typeface="Arial"/>
                <a:cs typeface="Arial"/>
              </a:rPr>
              <a:t>CO</a:t>
            </a:r>
            <a:r>
              <a:rPr sz="2200" spc="-315" dirty="0">
                <a:solidFill>
                  <a:srgbClr val="2D5EDF"/>
                </a:solidFill>
                <a:latin typeface="Arial"/>
                <a:cs typeface="Arial"/>
              </a:rPr>
              <a:t> </a:t>
            </a:r>
            <a:r>
              <a:rPr sz="2200" spc="-415" dirty="0">
                <a:solidFill>
                  <a:srgbClr val="2866D6"/>
                </a:solidFill>
                <a:latin typeface="Arial"/>
                <a:cs typeface="Arial"/>
              </a:rPr>
              <a:t>RE</a:t>
            </a:r>
            <a:r>
              <a:rPr sz="2200" spc="215" dirty="0">
                <a:solidFill>
                  <a:srgbClr val="2866D6"/>
                </a:solidFill>
                <a:latin typeface="Arial"/>
                <a:cs typeface="Arial"/>
              </a:rPr>
              <a:t> </a:t>
            </a:r>
            <a:r>
              <a:rPr sz="2200" spc="-200" dirty="0">
                <a:solidFill>
                  <a:srgbClr val="1A64DD"/>
                </a:solidFill>
                <a:latin typeface="Arial"/>
                <a:cs typeface="Arial"/>
              </a:rPr>
              <a:t>FUN</a:t>
            </a:r>
            <a:r>
              <a:rPr sz="2200" spc="-200" dirty="0">
                <a:solidFill>
                  <a:srgbClr val="3157D8"/>
                </a:solidFill>
                <a:latin typeface="Arial"/>
                <a:cs typeface="Arial"/>
              </a:rPr>
              <a:t>CTIO</a:t>
            </a:r>
            <a:r>
              <a:rPr sz="2200" spc="-265" dirty="0">
                <a:solidFill>
                  <a:srgbClr val="3157D8"/>
                </a:solidFill>
                <a:latin typeface="Arial"/>
                <a:cs typeface="Arial"/>
              </a:rPr>
              <a:t> </a:t>
            </a:r>
            <a:r>
              <a:rPr sz="2200" spc="-130" dirty="0">
                <a:solidFill>
                  <a:srgbClr val="1D64F2"/>
                </a:solidFill>
                <a:latin typeface="Arial"/>
                <a:cs typeface="Arial"/>
              </a:rPr>
              <a:t>NALITIE</a:t>
            </a:r>
            <a:r>
              <a:rPr sz="2200" spc="-180" dirty="0">
                <a:solidFill>
                  <a:srgbClr val="1D64F2"/>
                </a:solidFill>
                <a:latin typeface="Arial"/>
                <a:cs typeface="Arial"/>
              </a:rPr>
              <a:t> </a:t>
            </a:r>
            <a:r>
              <a:rPr sz="2200" spc="-475" dirty="0">
                <a:solidFill>
                  <a:srgbClr val="2864C8"/>
                </a:solidFill>
                <a:latin typeface="Arial"/>
                <a:cs typeface="Arial"/>
              </a:rPr>
              <a:t>S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pc="-185" dirty="0">
                <a:solidFill>
                  <a:srgbClr val="111111"/>
                </a:solidFill>
                <a:latin typeface="Arial"/>
                <a:cs typeface="Arial"/>
              </a:rPr>
              <a:t>Proposed</a:t>
            </a:r>
            <a:r>
              <a:rPr spc="-2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pc="-105" dirty="0">
                <a:solidFill>
                  <a:srgbClr val="131313"/>
                </a:solidFill>
                <a:latin typeface="Arial"/>
                <a:cs typeface="Arial"/>
              </a:rPr>
              <a:t>Methods</a:t>
            </a:r>
            <a:r>
              <a:rPr spc="-24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pc="-340" dirty="0">
                <a:solidFill>
                  <a:srgbClr val="0C182D"/>
                </a:solidFill>
                <a:latin typeface="Arial"/>
                <a:cs typeface="Arial"/>
              </a:rPr>
              <a:t>&amp;</a:t>
            </a:r>
            <a:r>
              <a:rPr spc="-385" dirty="0">
                <a:solidFill>
                  <a:srgbClr val="0C182D"/>
                </a:solidFill>
                <a:latin typeface="Arial"/>
                <a:cs typeface="Arial"/>
              </a:rPr>
              <a:t> </a:t>
            </a:r>
            <a:r>
              <a:rPr spc="-65" dirty="0">
                <a:solidFill>
                  <a:srgbClr val="111111"/>
                </a:solidFill>
                <a:latin typeface="Arial"/>
                <a:cs typeface="Arial"/>
              </a:rPr>
              <a:t>Capabilities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1885" y="4574201"/>
            <a:ext cx="4498340" cy="12350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200" spc="-20" dirty="0">
                <a:solidFill>
                  <a:srgbClr val="245DEB"/>
                </a:solidFill>
                <a:latin typeface="Arial"/>
                <a:cs typeface="Arial"/>
              </a:rPr>
              <a:t>1.</a:t>
            </a:r>
            <a:r>
              <a:rPr sz="2200" spc="-270" dirty="0">
                <a:solidFill>
                  <a:srgbClr val="245DEB"/>
                </a:solidFill>
                <a:latin typeface="Arial"/>
                <a:cs typeface="Arial"/>
              </a:rPr>
              <a:t> </a:t>
            </a:r>
            <a:r>
              <a:rPr sz="2200" spc="100" dirty="0">
                <a:solidFill>
                  <a:srgbClr val="265EDA"/>
                </a:solidFill>
                <a:latin typeface="Arial"/>
                <a:cs typeface="Arial"/>
              </a:rPr>
              <a:t>Registration</a:t>
            </a:r>
            <a:r>
              <a:rPr sz="2200" spc="105" dirty="0">
                <a:solidFill>
                  <a:srgbClr val="265EDA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1F70E1"/>
                </a:solidFill>
                <a:latin typeface="Arial"/>
                <a:cs typeface="Arial"/>
              </a:rPr>
              <a:t>&amp;</a:t>
            </a:r>
            <a:r>
              <a:rPr sz="2200" spc="-65" dirty="0">
                <a:solidFill>
                  <a:srgbClr val="1F70E1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4170EF"/>
                </a:solidFill>
                <a:latin typeface="Arial"/>
                <a:cs typeface="Arial"/>
              </a:rPr>
              <a:t>OTP</a:t>
            </a:r>
            <a:endParaRPr sz="2200">
              <a:latin typeface="Arial"/>
              <a:cs typeface="Arial"/>
            </a:endParaRPr>
          </a:p>
          <a:p>
            <a:pPr marL="24765" marR="5080" indent="8255">
              <a:lnSpc>
                <a:spcPts val="2600"/>
              </a:lnSpc>
              <a:spcBef>
                <a:spcPts val="940"/>
              </a:spcBef>
            </a:pPr>
            <a:r>
              <a:rPr sz="2200" spc="-240" dirty="0">
                <a:solidFill>
                  <a:srgbClr val="424242"/>
                </a:solidFill>
                <a:latin typeface="Arial"/>
                <a:cs typeface="Arial"/>
              </a:rPr>
              <a:t>Voter</a:t>
            </a:r>
            <a:r>
              <a:rPr sz="220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200" spc="-130" dirty="0">
                <a:solidFill>
                  <a:srgbClr val="494949"/>
                </a:solidFill>
                <a:latin typeface="Arial"/>
                <a:cs typeface="Arial"/>
              </a:rPr>
              <a:t>identity</a:t>
            </a:r>
            <a:r>
              <a:rPr sz="2200" spc="10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2200" spc="-180" dirty="0">
                <a:solidFill>
                  <a:srgbClr val="4B4B4B"/>
                </a:solidFill>
                <a:latin typeface="Arial"/>
                <a:cs typeface="Arial"/>
              </a:rPr>
              <a:t>validation</a:t>
            </a:r>
            <a:r>
              <a:rPr sz="2200" spc="8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200" spc="-215" dirty="0">
                <a:solidFill>
                  <a:srgbClr val="444444"/>
                </a:solidFill>
                <a:latin typeface="Arial"/>
                <a:cs typeface="Arial"/>
              </a:rPr>
              <a:t>via</a:t>
            </a:r>
            <a:r>
              <a:rPr sz="2200" spc="-3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200" spc="-220" dirty="0">
                <a:solidFill>
                  <a:srgbClr val="4B4B4B"/>
                </a:solidFill>
                <a:latin typeface="Arial"/>
                <a:cs typeface="Arial"/>
              </a:rPr>
              <a:t>personal</a:t>
            </a:r>
            <a:r>
              <a:rPr sz="2200" spc="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200" spc="-150" dirty="0">
                <a:solidFill>
                  <a:srgbClr val="494949"/>
                </a:solidFill>
                <a:latin typeface="Arial"/>
                <a:cs typeface="Arial"/>
              </a:rPr>
              <a:t>details </a:t>
            </a:r>
            <a:r>
              <a:rPr sz="2200" spc="-250" dirty="0">
                <a:solidFill>
                  <a:srgbClr val="415670"/>
                </a:solidFill>
                <a:latin typeface="Arial"/>
                <a:cs typeface="Arial"/>
              </a:rPr>
              <a:t>and</a:t>
            </a:r>
            <a:r>
              <a:rPr sz="2200" spc="55" dirty="0">
                <a:solidFill>
                  <a:srgbClr val="415670"/>
                </a:solidFill>
                <a:latin typeface="Arial"/>
                <a:cs typeface="Arial"/>
              </a:rPr>
              <a:t> </a:t>
            </a:r>
            <a:r>
              <a:rPr sz="2200" spc="-385" dirty="0">
                <a:solidFill>
                  <a:srgbClr val="5D728C"/>
                </a:solidFill>
                <a:latin typeface="Arial"/>
                <a:cs typeface="Arial"/>
              </a:rPr>
              <a:t>OTP</a:t>
            </a:r>
            <a:r>
              <a:rPr sz="2200" spc="75" dirty="0">
                <a:solidFill>
                  <a:srgbClr val="5D728C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464646"/>
                </a:solidFill>
                <a:latin typeface="Arial"/>
                <a:cs typeface="Arial"/>
              </a:rPr>
              <a:t>verification.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3948" y="4574201"/>
            <a:ext cx="4029710" cy="12350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25"/>
              </a:spcBef>
            </a:pPr>
            <a:r>
              <a:rPr sz="2200" spc="-20" dirty="0">
                <a:solidFill>
                  <a:srgbClr val="1156D8"/>
                </a:solidFill>
                <a:latin typeface="Arial"/>
                <a:cs typeface="Arial"/>
              </a:rPr>
              <a:t>2.</a:t>
            </a:r>
            <a:r>
              <a:rPr sz="2200" spc="200" dirty="0">
                <a:solidFill>
                  <a:srgbClr val="1156D8"/>
                </a:solidFill>
                <a:latin typeface="Arial"/>
                <a:cs typeface="Arial"/>
              </a:rPr>
              <a:t> </a:t>
            </a:r>
            <a:r>
              <a:rPr sz="2200" spc="100" dirty="0">
                <a:solidFill>
                  <a:srgbClr val="3B69E2"/>
                </a:solidFill>
                <a:latin typeface="Arial"/>
                <a:cs typeface="Arial"/>
              </a:rPr>
              <a:t>Secure</a:t>
            </a:r>
            <a:r>
              <a:rPr sz="2200" spc="-25" dirty="0">
                <a:solidFill>
                  <a:srgbClr val="3B69E2"/>
                </a:solidFill>
                <a:latin typeface="Arial"/>
                <a:cs typeface="Arial"/>
              </a:rPr>
              <a:t> </a:t>
            </a:r>
            <a:r>
              <a:rPr sz="2200" spc="85" dirty="0">
                <a:solidFill>
                  <a:srgbClr val="1A5DF9"/>
                </a:solidFill>
                <a:latin typeface="Arial"/>
                <a:cs typeface="Arial"/>
              </a:rPr>
              <a:t>Vote</a:t>
            </a:r>
            <a:r>
              <a:rPr sz="2200" spc="-75" dirty="0">
                <a:solidFill>
                  <a:srgbClr val="1A5DF9"/>
                </a:solidFill>
                <a:latin typeface="Arial"/>
                <a:cs typeface="Arial"/>
              </a:rPr>
              <a:t> </a:t>
            </a:r>
            <a:r>
              <a:rPr sz="2200" spc="90" dirty="0">
                <a:solidFill>
                  <a:srgbClr val="2A60DF"/>
                </a:solidFill>
                <a:latin typeface="Arial"/>
                <a:cs typeface="Arial"/>
              </a:rPr>
              <a:t>Casting</a:t>
            </a:r>
            <a:endParaRPr sz="2200">
              <a:latin typeface="Arial"/>
              <a:cs typeface="Arial"/>
            </a:endParaRPr>
          </a:p>
          <a:p>
            <a:pPr marL="12700" marR="5080" indent="2540">
              <a:lnSpc>
                <a:spcPts val="2600"/>
              </a:lnSpc>
              <a:spcBef>
                <a:spcPts val="940"/>
              </a:spcBef>
            </a:pPr>
            <a:r>
              <a:rPr sz="2200" spc="-175" dirty="0">
                <a:solidFill>
                  <a:srgbClr val="414141"/>
                </a:solidFill>
                <a:latin typeface="Arial"/>
                <a:cs typeface="Arial"/>
              </a:rPr>
              <a:t>Authenticated</a:t>
            </a:r>
            <a:r>
              <a:rPr sz="2200" spc="110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2200" spc="-185" dirty="0">
                <a:solidFill>
                  <a:srgbClr val="414141"/>
                </a:solidFill>
                <a:latin typeface="Arial"/>
                <a:cs typeface="Arial"/>
              </a:rPr>
              <a:t>candidate</a:t>
            </a:r>
            <a:r>
              <a:rPr sz="2200" spc="30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2200" spc="-200" dirty="0">
                <a:solidFill>
                  <a:srgbClr val="444444"/>
                </a:solidFill>
                <a:latin typeface="Arial"/>
                <a:cs typeface="Arial"/>
              </a:rPr>
              <a:t>selection</a:t>
            </a:r>
            <a:r>
              <a:rPr sz="2200" spc="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4D4D4D"/>
                </a:solidFill>
                <a:latin typeface="Arial"/>
                <a:cs typeface="Arial"/>
              </a:rPr>
              <a:t>with </a:t>
            </a:r>
            <a:r>
              <a:rPr sz="2200" spc="-170" dirty="0">
                <a:solidFill>
                  <a:srgbClr val="424242"/>
                </a:solidFill>
                <a:latin typeface="Arial"/>
                <a:cs typeface="Arial"/>
              </a:rPr>
              <a:t>encrypted</a:t>
            </a:r>
            <a:r>
              <a:rPr sz="2200" spc="7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200" spc="-150" dirty="0">
                <a:solidFill>
                  <a:srgbClr val="363636"/>
                </a:solidFill>
                <a:latin typeface="Arial"/>
                <a:cs typeface="Arial"/>
              </a:rPr>
              <a:t>submission.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15751" y="4574201"/>
            <a:ext cx="4471035" cy="12350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25"/>
              </a:spcBef>
            </a:pPr>
            <a:r>
              <a:rPr sz="2200" spc="-20" dirty="0">
                <a:solidFill>
                  <a:srgbClr val="215BEB"/>
                </a:solidFill>
                <a:latin typeface="Arial"/>
                <a:cs typeface="Arial"/>
              </a:rPr>
              <a:t>3.</a:t>
            </a:r>
            <a:r>
              <a:rPr sz="2200" spc="310" dirty="0">
                <a:solidFill>
                  <a:srgbClr val="215BEB"/>
                </a:solidFill>
                <a:latin typeface="Arial"/>
                <a:cs typeface="Arial"/>
              </a:rPr>
              <a:t> </a:t>
            </a:r>
            <a:r>
              <a:rPr sz="2200" spc="105" dirty="0">
                <a:solidFill>
                  <a:srgbClr val="1F64EB"/>
                </a:solidFill>
                <a:latin typeface="Arial"/>
                <a:cs typeface="Arial"/>
              </a:rPr>
              <a:t>Duplicate</a:t>
            </a:r>
            <a:r>
              <a:rPr sz="2200" spc="-85" dirty="0">
                <a:solidFill>
                  <a:srgbClr val="1F64EB"/>
                </a:solidFill>
                <a:latin typeface="Arial"/>
                <a:cs typeface="Arial"/>
              </a:rPr>
              <a:t> </a:t>
            </a:r>
            <a:r>
              <a:rPr sz="2200" spc="110" dirty="0">
                <a:solidFill>
                  <a:srgbClr val="2666CF"/>
                </a:solidFill>
                <a:latin typeface="Arial"/>
                <a:cs typeface="Arial"/>
              </a:rPr>
              <a:t>Prevention</a:t>
            </a:r>
            <a:endParaRPr sz="2200">
              <a:latin typeface="Arial"/>
              <a:cs typeface="Arial"/>
            </a:endParaRPr>
          </a:p>
          <a:p>
            <a:pPr marL="13970" marR="5080" indent="-1905">
              <a:lnSpc>
                <a:spcPts val="2600"/>
              </a:lnSpc>
              <a:spcBef>
                <a:spcPts val="940"/>
              </a:spcBef>
            </a:pPr>
            <a:r>
              <a:rPr sz="2200" spc="-140" dirty="0">
                <a:solidFill>
                  <a:srgbClr val="3B3B3B"/>
                </a:solidFill>
                <a:latin typeface="Arial"/>
                <a:cs typeface="Arial"/>
              </a:rPr>
              <a:t>Strict</a:t>
            </a:r>
            <a:r>
              <a:rPr sz="2200" spc="-15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2200" spc="-190" dirty="0">
                <a:solidFill>
                  <a:srgbClr val="424242"/>
                </a:solidFill>
                <a:latin typeface="Arial"/>
                <a:cs typeface="Arial"/>
              </a:rPr>
              <a:t>status</a:t>
            </a:r>
            <a:r>
              <a:rPr sz="2200" spc="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200" spc="-215" dirty="0">
                <a:solidFill>
                  <a:srgbClr val="464646"/>
                </a:solidFill>
                <a:latin typeface="Arial"/>
                <a:cs typeface="Arial"/>
              </a:rPr>
              <a:t>checks</a:t>
            </a:r>
            <a:r>
              <a:rPr sz="2200" spc="-2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200" spc="-170" dirty="0">
                <a:solidFill>
                  <a:srgbClr val="424242"/>
                </a:solidFill>
                <a:latin typeface="Arial"/>
                <a:cs typeface="Arial"/>
              </a:rPr>
              <a:t>preventing</a:t>
            </a:r>
            <a:r>
              <a:rPr sz="2200" spc="14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200" spc="-180" dirty="0">
                <a:solidFill>
                  <a:srgbClr val="4D4D4D"/>
                </a:solidFill>
                <a:latin typeface="Arial"/>
                <a:cs typeface="Arial"/>
              </a:rPr>
              <a:t>voters</a:t>
            </a:r>
            <a:r>
              <a:rPr sz="2200" spc="-5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200" spc="-145" dirty="0">
                <a:solidFill>
                  <a:srgbClr val="4B4B4B"/>
                </a:solidFill>
                <a:latin typeface="Arial"/>
                <a:cs typeface="Arial"/>
              </a:rPr>
              <a:t>from </a:t>
            </a:r>
            <a:r>
              <a:rPr sz="2200" spc="-190" dirty="0">
                <a:solidFill>
                  <a:srgbClr val="464646"/>
                </a:solidFill>
                <a:latin typeface="Arial"/>
                <a:cs typeface="Arial"/>
              </a:rPr>
              <a:t>casting</a:t>
            </a:r>
            <a:r>
              <a:rPr sz="2200" spc="7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200" spc="-190" dirty="0">
                <a:solidFill>
                  <a:srgbClr val="444444"/>
                </a:solidFill>
                <a:latin typeface="Arial"/>
                <a:cs typeface="Arial"/>
              </a:rPr>
              <a:t>multiple</a:t>
            </a:r>
            <a:r>
              <a:rPr sz="2200" spc="1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200" spc="-45" dirty="0">
                <a:solidFill>
                  <a:srgbClr val="414141"/>
                </a:solidFill>
                <a:latin typeface="Arial"/>
                <a:cs typeface="Arial"/>
              </a:rPr>
              <a:t>ballots.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8316" y="6851619"/>
            <a:ext cx="3780154" cy="12350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925"/>
              </a:spcBef>
            </a:pPr>
            <a:r>
              <a:rPr sz="2200" spc="80" dirty="0">
                <a:solidFill>
                  <a:srgbClr val="265DF6"/>
                </a:solidFill>
                <a:latin typeface="Arial"/>
                <a:cs typeface="Arial"/>
              </a:rPr>
              <a:t>4.</a:t>
            </a:r>
            <a:r>
              <a:rPr sz="2200" spc="-225" dirty="0">
                <a:solidFill>
                  <a:srgbClr val="265DF6"/>
                </a:solidFill>
                <a:latin typeface="Arial"/>
                <a:cs typeface="Arial"/>
              </a:rPr>
              <a:t> </a:t>
            </a:r>
            <a:r>
              <a:rPr sz="2200" spc="95" dirty="0">
                <a:solidFill>
                  <a:srgbClr val="286EF2"/>
                </a:solidFill>
                <a:latin typeface="Arial"/>
                <a:cs typeface="Arial"/>
              </a:rPr>
              <a:t>Cloud</a:t>
            </a:r>
            <a:r>
              <a:rPr sz="2200" spc="-80" dirty="0">
                <a:solidFill>
                  <a:srgbClr val="286EF2"/>
                </a:solidFill>
                <a:latin typeface="Arial"/>
                <a:cs typeface="Arial"/>
              </a:rPr>
              <a:t> </a:t>
            </a:r>
            <a:r>
              <a:rPr sz="2200" spc="70" dirty="0">
                <a:solidFill>
                  <a:srgbClr val="2660FF"/>
                </a:solidFill>
                <a:latin typeface="Arial"/>
                <a:cs typeface="Arial"/>
              </a:rPr>
              <a:t>Storage</a:t>
            </a:r>
            <a:endParaRPr sz="2200">
              <a:latin typeface="Arial"/>
              <a:cs typeface="Arial"/>
            </a:endParaRPr>
          </a:p>
          <a:p>
            <a:pPr marL="16510" marR="5080" indent="-4445">
              <a:lnSpc>
                <a:spcPts val="2600"/>
              </a:lnSpc>
              <a:spcBef>
                <a:spcPts val="940"/>
              </a:spcBef>
            </a:pPr>
            <a:r>
              <a:rPr sz="2200" spc="-190" dirty="0">
                <a:solidFill>
                  <a:srgbClr val="3D3D3D"/>
                </a:solidFill>
                <a:latin typeface="Arial"/>
                <a:cs typeface="Arial"/>
              </a:rPr>
              <a:t>Centralized,</a:t>
            </a:r>
            <a:r>
              <a:rPr sz="2200" spc="13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2200" spc="-210" dirty="0">
                <a:solidFill>
                  <a:srgbClr val="444444"/>
                </a:solidFill>
                <a:latin typeface="Arial"/>
                <a:cs typeface="Arial"/>
              </a:rPr>
              <a:t>scalable,</a:t>
            </a:r>
            <a:r>
              <a:rPr sz="2200" spc="9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200" spc="-254" dirty="0">
                <a:solidFill>
                  <a:srgbClr val="6E90AA"/>
                </a:solidFill>
                <a:latin typeface="Arial"/>
                <a:cs typeface="Arial"/>
              </a:rPr>
              <a:t>and</a:t>
            </a:r>
            <a:r>
              <a:rPr sz="2200" spc="20" dirty="0">
                <a:solidFill>
                  <a:srgbClr val="6E90AA"/>
                </a:solidFill>
                <a:latin typeface="Arial"/>
                <a:cs typeface="Arial"/>
              </a:rPr>
              <a:t> </a:t>
            </a:r>
            <a:r>
              <a:rPr sz="2200" spc="-190" dirty="0">
                <a:solidFill>
                  <a:srgbClr val="4D4D4D"/>
                </a:solidFill>
                <a:latin typeface="Arial"/>
                <a:cs typeface="Arial"/>
              </a:rPr>
              <a:t>redundant </a:t>
            </a:r>
            <a:r>
              <a:rPr sz="2200" spc="-215" dirty="0">
                <a:solidFill>
                  <a:srgbClr val="4D4D4D"/>
                </a:solidFill>
                <a:latin typeface="Arial"/>
                <a:cs typeface="Arial"/>
              </a:rPr>
              <a:t>database</a:t>
            </a:r>
            <a:r>
              <a:rPr sz="2200" spc="5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200" spc="-65" dirty="0">
                <a:solidFill>
                  <a:srgbClr val="464646"/>
                </a:solidFill>
                <a:latin typeface="Arial"/>
                <a:cs typeface="Arial"/>
              </a:rPr>
              <a:t>hosting.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5800" y="6851619"/>
            <a:ext cx="3847465" cy="12350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25"/>
              </a:spcBef>
            </a:pPr>
            <a:r>
              <a:rPr sz="2200" spc="-25" dirty="0">
                <a:solidFill>
                  <a:srgbClr val="3466D6"/>
                </a:solidFill>
                <a:latin typeface="Arial"/>
                <a:cs typeface="Arial"/>
              </a:rPr>
              <a:t>5.</a:t>
            </a:r>
            <a:r>
              <a:rPr sz="2200" spc="265" dirty="0">
                <a:solidFill>
                  <a:srgbClr val="3466D6"/>
                </a:solidFill>
                <a:latin typeface="Arial"/>
                <a:cs typeface="Arial"/>
              </a:rPr>
              <a:t> </a:t>
            </a:r>
            <a:r>
              <a:rPr sz="2200" spc="114" dirty="0">
                <a:solidFill>
                  <a:srgbClr val="155BDB"/>
                </a:solidFill>
                <a:latin typeface="Arial"/>
                <a:cs typeface="Arial"/>
              </a:rPr>
              <a:t>Automatic</a:t>
            </a:r>
            <a:r>
              <a:rPr sz="2200" spc="45" dirty="0">
                <a:solidFill>
                  <a:srgbClr val="155BDB"/>
                </a:solidFill>
                <a:latin typeface="Arial"/>
                <a:cs typeface="Arial"/>
              </a:rPr>
              <a:t> </a:t>
            </a:r>
            <a:r>
              <a:rPr sz="2200" spc="105" dirty="0">
                <a:solidFill>
                  <a:srgbClr val="315EE8"/>
                </a:solidFill>
                <a:latin typeface="Arial"/>
                <a:cs typeface="Arial"/>
              </a:rPr>
              <a:t>Counting</a:t>
            </a:r>
            <a:endParaRPr sz="2200">
              <a:latin typeface="Arial"/>
              <a:cs typeface="Arial"/>
            </a:endParaRPr>
          </a:p>
          <a:p>
            <a:pPr marL="12700" marR="5080" indent="3810">
              <a:lnSpc>
                <a:spcPts val="2600"/>
              </a:lnSpc>
              <a:spcBef>
                <a:spcPts val="940"/>
              </a:spcBef>
            </a:pPr>
            <a:r>
              <a:rPr sz="2200" spc="-235" dirty="0">
                <a:solidFill>
                  <a:srgbClr val="3B3B3B"/>
                </a:solidFill>
                <a:latin typeface="Arial"/>
                <a:cs typeface="Arial"/>
              </a:rPr>
              <a:t>Real-</a:t>
            </a:r>
            <a:r>
              <a:rPr sz="2200" spc="-229" dirty="0">
                <a:solidFill>
                  <a:srgbClr val="3B3B3B"/>
                </a:solidFill>
                <a:latin typeface="Arial"/>
                <a:cs typeface="Arial"/>
              </a:rPr>
              <a:t>time</a:t>
            </a:r>
            <a:r>
              <a:rPr sz="2200" spc="25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2200" spc="-210" dirty="0">
                <a:solidFill>
                  <a:srgbClr val="484848"/>
                </a:solidFill>
                <a:latin typeface="Arial"/>
                <a:cs typeface="Arial"/>
              </a:rPr>
              <a:t>automated</a:t>
            </a:r>
            <a:r>
              <a:rPr sz="2200" spc="210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2200" spc="-190" dirty="0">
                <a:solidFill>
                  <a:srgbClr val="444444"/>
                </a:solidFill>
                <a:latin typeface="Arial"/>
                <a:cs typeface="Arial"/>
              </a:rPr>
              <a:t>vote</a:t>
            </a:r>
            <a:r>
              <a:rPr sz="2200" spc="-6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200" spc="-195" dirty="0">
                <a:solidFill>
                  <a:srgbClr val="444444"/>
                </a:solidFill>
                <a:latin typeface="Arial"/>
                <a:cs typeface="Arial"/>
              </a:rPr>
              <a:t>processing </a:t>
            </a:r>
            <a:r>
              <a:rPr sz="2200" spc="-220" dirty="0">
                <a:solidFill>
                  <a:srgbClr val="343434"/>
                </a:solidFill>
                <a:latin typeface="Arial"/>
                <a:cs typeface="Arial"/>
              </a:rPr>
              <a:t>minimizing</a:t>
            </a:r>
            <a:r>
              <a:rPr sz="2200" spc="12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2200" spc="-260" dirty="0">
                <a:solidFill>
                  <a:srgbClr val="6B8095"/>
                </a:solidFill>
                <a:latin typeface="Arial"/>
                <a:cs typeface="Arial"/>
              </a:rPr>
              <a:t>manual</a:t>
            </a:r>
            <a:r>
              <a:rPr sz="2200" spc="15" dirty="0">
                <a:solidFill>
                  <a:srgbClr val="6B8095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363636"/>
                </a:solidFill>
                <a:latin typeface="Arial"/>
                <a:cs typeface="Arial"/>
              </a:rPr>
              <a:t>error.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14392" y="6795376"/>
            <a:ext cx="4788535" cy="129159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15"/>
              </a:spcBef>
            </a:pPr>
            <a:r>
              <a:rPr sz="2550" spc="-40" dirty="0">
                <a:solidFill>
                  <a:srgbClr val="285EF4"/>
                </a:solidFill>
                <a:latin typeface="Arial"/>
                <a:cs typeface="Arial"/>
              </a:rPr>
              <a:t>6.</a:t>
            </a:r>
            <a:r>
              <a:rPr sz="2550" spc="-235" dirty="0">
                <a:solidFill>
                  <a:srgbClr val="285EF4"/>
                </a:solidFill>
                <a:latin typeface="Arial"/>
                <a:cs typeface="Arial"/>
              </a:rPr>
              <a:t> </a:t>
            </a:r>
            <a:r>
              <a:rPr sz="2550" spc="-100" dirty="0">
                <a:solidFill>
                  <a:srgbClr val="1A59E4"/>
                </a:solidFill>
                <a:latin typeface="Arial"/>
                <a:cs typeface="Arial"/>
              </a:rPr>
              <a:t>Admin</a:t>
            </a:r>
            <a:r>
              <a:rPr sz="2550" spc="-120" dirty="0">
                <a:solidFill>
                  <a:srgbClr val="1A59E4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2F60D8"/>
                </a:solidFill>
                <a:latin typeface="Arial"/>
                <a:cs typeface="Arial"/>
              </a:rPr>
              <a:t>Control</a:t>
            </a:r>
            <a:endParaRPr sz="2550">
              <a:latin typeface="Arial"/>
              <a:cs typeface="Arial"/>
            </a:endParaRPr>
          </a:p>
          <a:p>
            <a:pPr marL="14604" marR="5080" indent="-2540">
              <a:lnSpc>
                <a:spcPts val="2600"/>
              </a:lnSpc>
              <a:spcBef>
                <a:spcPts val="875"/>
              </a:spcBef>
            </a:pPr>
            <a:r>
              <a:rPr sz="2200" spc="-200" dirty="0">
                <a:solidFill>
                  <a:srgbClr val="424242"/>
                </a:solidFill>
                <a:latin typeface="Arial"/>
                <a:cs typeface="Arial"/>
              </a:rPr>
              <a:t>Centralized</a:t>
            </a:r>
            <a:r>
              <a:rPr sz="2200" spc="18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200" spc="-225" dirty="0">
                <a:solidFill>
                  <a:srgbClr val="4B4B4B"/>
                </a:solidFill>
                <a:latin typeface="Arial"/>
                <a:cs typeface="Arial"/>
              </a:rPr>
              <a:t>dashboard</a:t>
            </a:r>
            <a:r>
              <a:rPr sz="2200" spc="7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4B4B4B"/>
                </a:solidFill>
                <a:latin typeface="Arial"/>
                <a:cs typeface="Arial"/>
              </a:rPr>
              <a:t>to </a:t>
            </a:r>
            <a:r>
              <a:rPr sz="2200" spc="-270" dirty="0">
                <a:solidFill>
                  <a:srgbClr val="414141"/>
                </a:solidFill>
                <a:latin typeface="Arial"/>
                <a:cs typeface="Arial"/>
              </a:rPr>
              <a:t>manage</a:t>
            </a:r>
            <a:r>
              <a:rPr sz="2200" spc="85" dirty="0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sz="2200" spc="-165" dirty="0">
                <a:solidFill>
                  <a:srgbClr val="424242"/>
                </a:solidFill>
                <a:latin typeface="Arial"/>
                <a:cs typeface="Arial"/>
              </a:rPr>
              <a:t>candidates, </a:t>
            </a:r>
            <a:r>
              <a:rPr sz="2200" spc="-190" dirty="0">
                <a:solidFill>
                  <a:srgbClr val="464646"/>
                </a:solidFill>
                <a:latin typeface="Arial"/>
                <a:cs typeface="Arial"/>
              </a:rPr>
              <a:t>voters,</a:t>
            </a:r>
            <a:r>
              <a:rPr sz="2200" spc="4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200" spc="-254" dirty="0">
                <a:solidFill>
                  <a:srgbClr val="525252"/>
                </a:solidFill>
                <a:latin typeface="Arial"/>
                <a:cs typeface="Arial"/>
              </a:rPr>
              <a:t>and</a:t>
            </a:r>
            <a:r>
              <a:rPr sz="2200" spc="40" dirty="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484848"/>
                </a:solidFill>
                <a:latin typeface="Arial"/>
                <a:cs typeface="Arial"/>
              </a:rPr>
              <a:t>results.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901" y="959129"/>
            <a:ext cx="158877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solidFill>
                  <a:srgbClr val="215BF4"/>
                </a:solidFill>
                <a:latin typeface="Calibri"/>
                <a:cs typeface="Calibri"/>
              </a:rPr>
              <a:t>LO</a:t>
            </a:r>
            <a:r>
              <a:rPr sz="1900" spc="240" dirty="0">
                <a:solidFill>
                  <a:srgbClr val="215BF4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2B5DE8"/>
                </a:solidFill>
                <a:latin typeface="Calibri"/>
                <a:cs typeface="Calibri"/>
              </a:rPr>
              <a:t>GI</a:t>
            </a:r>
            <a:r>
              <a:rPr sz="1900" spc="95" dirty="0">
                <a:solidFill>
                  <a:srgbClr val="2B5DE8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F4FE2"/>
                </a:solidFill>
                <a:latin typeface="Calibri"/>
                <a:cs typeface="Calibri"/>
              </a:rPr>
              <a:t>C</a:t>
            </a:r>
            <a:r>
              <a:rPr sz="1900" spc="260" dirty="0">
                <a:solidFill>
                  <a:srgbClr val="1F4FE2"/>
                </a:solidFill>
                <a:latin typeface="Calibri"/>
                <a:cs typeface="Calibri"/>
              </a:rPr>
              <a:t> </a:t>
            </a:r>
            <a:r>
              <a:rPr sz="1900" spc="-160" dirty="0">
                <a:solidFill>
                  <a:srgbClr val="2B57DF"/>
                </a:solidFill>
                <a:latin typeface="Calibri"/>
                <a:cs typeface="Calibri"/>
              </a:rPr>
              <a:t>F</a:t>
            </a:r>
            <a:r>
              <a:rPr sz="1900" spc="25" dirty="0">
                <a:solidFill>
                  <a:srgbClr val="2B57D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2D6EE6"/>
                </a:solidFill>
                <a:latin typeface="Calibri"/>
                <a:cs typeface="Calibri"/>
              </a:rPr>
              <a:t>LO</a:t>
            </a:r>
            <a:r>
              <a:rPr sz="1900" spc="305" dirty="0">
                <a:solidFill>
                  <a:srgbClr val="2D6EE6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2A67F4"/>
                </a:solidFill>
                <a:latin typeface="Calibri"/>
                <a:cs typeface="Calibri"/>
              </a:rPr>
              <a:t>W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50" spc="-10" dirty="0">
                <a:latin typeface="Arial"/>
                <a:cs typeface="Arial"/>
              </a:rPr>
              <a:t>Core</a:t>
            </a:r>
            <a:r>
              <a:rPr sz="4250" spc="-305" dirty="0">
                <a:latin typeface="Arial"/>
                <a:cs typeface="Arial"/>
              </a:rPr>
              <a:t> </a:t>
            </a:r>
            <a:r>
              <a:rPr sz="4250" spc="55" dirty="0">
                <a:latin typeface="Arial"/>
                <a:cs typeface="Arial"/>
              </a:rPr>
              <a:t>Execution</a:t>
            </a:r>
            <a:r>
              <a:rPr sz="4250" spc="125" dirty="0">
                <a:latin typeface="Arial"/>
                <a:cs typeface="Arial"/>
              </a:rPr>
              <a:t> </a:t>
            </a:r>
            <a:r>
              <a:rPr sz="4250" spc="110" dirty="0">
                <a:latin typeface="Arial"/>
                <a:cs typeface="Arial"/>
              </a:rPr>
              <a:t>Algorithms</a:t>
            </a:r>
            <a:endParaRPr sz="4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2952" y="2872682"/>
            <a:ext cx="5458460" cy="3549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70" dirty="0">
                <a:solidFill>
                  <a:srgbClr val="111111"/>
                </a:solidFill>
                <a:latin typeface="Arial"/>
                <a:cs typeface="Arial"/>
              </a:rPr>
              <a:t>Vote</a:t>
            </a:r>
            <a:r>
              <a:rPr sz="245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2450" spc="100" dirty="0">
                <a:solidFill>
                  <a:srgbClr val="151515"/>
                </a:solidFill>
                <a:latin typeface="Arial"/>
                <a:cs typeface="Arial"/>
              </a:rPr>
              <a:t>Casting</a:t>
            </a:r>
            <a:r>
              <a:rPr sz="2450" spc="10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2450" spc="80" dirty="0">
                <a:latin typeface="Arial"/>
                <a:cs typeface="Arial"/>
              </a:rPr>
              <a:t>Logic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450">
              <a:latin typeface="Arial"/>
              <a:cs typeface="Arial"/>
            </a:endParaRPr>
          </a:p>
          <a:p>
            <a:pPr marL="322580" indent="-285115">
              <a:lnSpc>
                <a:spcPct val="100000"/>
              </a:lnSpc>
              <a:spcBef>
                <a:spcPts val="5"/>
              </a:spcBef>
              <a:buClr>
                <a:srgbClr val="2D2D2D"/>
              </a:buClr>
              <a:buAutoNum type="arabicPeriod"/>
              <a:tabLst>
                <a:tab pos="322580" algn="l"/>
              </a:tabLst>
            </a:pPr>
            <a:r>
              <a:rPr sz="2200" spc="-50" dirty="0">
                <a:solidFill>
                  <a:srgbClr val="333333"/>
                </a:solidFill>
                <a:latin typeface="Calibri"/>
                <a:cs typeface="Calibri"/>
              </a:rPr>
              <a:t>Authenticate</a:t>
            </a:r>
            <a:r>
              <a:rPr sz="220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383838"/>
                </a:solidFill>
                <a:latin typeface="Calibri"/>
                <a:cs typeface="Calibri"/>
              </a:rPr>
              <a:t>voter</a:t>
            </a:r>
            <a:r>
              <a:rPr sz="2200" spc="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313131"/>
                </a:solidFill>
                <a:latin typeface="Calibri"/>
                <a:cs typeface="Calibri"/>
              </a:rPr>
              <a:t>identity</a:t>
            </a:r>
            <a:r>
              <a:rPr sz="2200" spc="6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200" spc="-390" dirty="0">
                <a:solidFill>
                  <a:srgbClr val="384D62"/>
                </a:solidFill>
                <a:latin typeface="Calibri"/>
                <a:cs typeface="Calibri"/>
              </a:rPr>
              <a:t>&amp;</a:t>
            </a:r>
            <a:r>
              <a:rPr sz="2200" spc="120" dirty="0">
                <a:solidFill>
                  <a:srgbClr val="384D62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F3F3F"/>
                </a:solidFill>
                <a:latin typeface="Calibri"/>
                <a:cs typeface="Calibri"/>
              </a:rPr>
              <a:t>OTP</a:t>
            </a:r>
            <a:r>
              <a:rPr sz="2200" spc="5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B2B2B"/>
                </a:solidFill>
                <a:latin typeface="Calibri"/>
                <a:cs typeface="Calibri"/>
              </a:rPr>
              <a:t>status.</a:t>
            </a:r>
            <a:endParaRPr sz="2200">
              <a:latin typeface="Calibri"/>
              <a:cs typeface="Calibri"/>
            </a:endParaRPr>
          </a:p>
          <a:p>
            <a:pPr marL="318770" indent="-273685">
              <a:lnSpc>
                <a:spcPct val="100000"/>
              </a:lnSpc>
              <a:spcBef>
                <a:spcPts val="1190"/>
              </a:spcBef>
              <a:buClr>
                <a:srgbClr val="2D2D2D"/>
              </a:buClr>
              <a:buAutoNum type="arabicPeriod"/>
              <a:tabLst>
                <a:tab pos="318770" algn="l"/>
              </a:tabLst>
            </a:pP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Fetch</a:t>
            </a:r>
            <a:r>
              <a:rPr sz="22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A3A3A"/>
                </a:solidFill>
                <a:latin typeface="Calibri"/>
                <a:cs typeface="Calibri"/>
              </a:rPr>
              <a:t>active</a:t>
            </a:r>
            <a:r>
              <a:rPr sz="2200" spc="-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63636"/>
                </a:solidFill>
                <a:latin typeface="Calibri"/>
                <a:cs typeface="Calibri"/>
              </a:rPr>
              <a:t>candidate</a:t>
            </a:r>
            <a:r>
              <a:rPr sz="2200" spc="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43434"/>
                </a:solidFill>
                <a:latin typeface="Calibri"/>
                <a:cs typeface="Calibri"/>
              </a:rPr>
              <a:t>election</a:t>
            </a:r>
            <a:r>
              <a:rPr sz="2200" spc="-3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62626"/>
                </a:solidFill>
                <a:latin typeface="Calibri"/>
                <a:cs typeface="Calibri"/>
              </a:rPr>
              <a:t>list.</a:t>
            </a:r>
            <a:endParaRPr sz="2200">
              <a:latin typeface="Calibri"/>
              <a:cs typeface="Calibri"/>
            </a:endParaRPr>
          </a:p>
          <a:p>
            <a:pPr marL="322580" indent="-275590">
              <a:lnSpc>
                <a:spcPct val="100000"/>
              </a:lnSpc>
              <a:spcBef>
                <a:spcPts val="1195"/>
              </a:spcBef>
              <a:buClr>
                <a:srgbClr val="333333"/>
              </a:buClr>
              <a:buAutoNum type="arabicPeriod"/>
              <a:tabLst>
                <a:tab pos="322580" algn="l"/>
                <a:tab pos="4429760" algn="l"/>
              </a:tabLst>
            </a:pPr>
            <a:r>
              <a:rPr sz="2200" spc="-65" dirty="0">
                <a:solidFill>
                  <a:srgbClr val="2F4260"/>
                </a:solidFill>
                <a:latin typeface="Calibri"/>
                <a:cs typeface="Calibri"/>
              </a:rPr>
              <a:t>Validate</a:t>
            </a:r>
            <a:r>
              <a:rPr sz="2200" spc="55" dirty="0">
                <a:solidFill>
                  <a:srgbClr val="2F4260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A3A3A"/>
                </a:solidFill>
                <a:latin typeface="Calibri"/>
                <a:cs typeface="Calibri"/>
              </a:rPr>
              <a:t>voter</a:t>
            </a:r>
            <a:r>
              <a:rPr sz="2200" spc="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83838"/>
                </a:solidFill>
                <a:latin typeface="Calibri"/>
                <a:cs typeface="Calibri"/>
              </a:rPr>
              <a:t>eligibility</a:t>
            </a:r>
            <a:r>
              <a:rPr sz="2200" spc="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5D72"/>
                </a:solidFill>
                <a:latin typeface="Calibri"/>
                <a:cs typeface="Calibri"/>
              </a:rPr>
              <a:t>(</a:t>
            </a:r>
            <a:r>
              <a:rPr sz="2200" spc="130" dirty="0">
                <a:solidFill>
                  <a:srgbClr val="4B5D72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Calibri"/>
                <a:cs typeface="Calibri"/>
              </a:rPr>
              <a:t>voted</a:t>
            </a:r>
            <a:r>
              <a:rPr sz="2200" dirty="0">
                <a:solidFill>
                  <a:srgbClr val="2F2F2F"/>
                </a:solidFill>
                <a:latin typeface="Calibri"/>
                <a:cs typeface="Calibri"/>
              </a:rPr>
              <a:t>	</a:t>
            </a:r>
            <a:r>
              <a:rPr sz="2200" dirty="0">
                <a:solidFill>
                  <a:srgbClr val="57759E"/>
                </a:solidFill>
                <a:latin typeface="Calibri"/>
                <a:cs typeface="Calibri"/>
              </a:rPr>
              <a:t>fa</a:t>
            </a:r>
            <a:r>
              <a:rPr sz="2200" spc="-155" dirty="0">
                <a:solidFill>
                  <a:srgbClr val="57759E"/>
                </a:solidFill>
                <a:latin typeface="Calibri"/>
                <a:cs typeface="Calibri"/>
              </a:rPr>
              <a:t> </a:t>
            </a:r>
            <a:r>
              <a:rPr sz="2200" spc="65" dirty="0">
                <a:solidFill>
                  <a:srgbClr val="6D89AA"/>
                </a:solidFill>
                <a:latin typeface="Calibri"/>
                <a:cs typeface="Calibri"/>
              </a:rPr>
              <a:t>1se</a:t>
            </a:r>
            <a:r>
              <a:rPr sz="2200" spc="350" dirty="0">
                <a:solidFill>
                  <a:srgbClr val="6D89AA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313131"/>
                </a:solidFill>
                <a:latin typeface="Calibri"/>
                <a:cs typeface="Calibri"/>
              </a:rPr>
              <a:t>).</a:t>
            </a:r>
            <a:endParaRPr sz="2200">
              <a:latin typeface="Calibri"/>
              <a:cs typeface="Calibri"/>
            </a:endParaRPr>
          </a:p>
          <a:p>
            <a:pPr marL="319405" indent="-273050">
              <a:lnSpc>
                <a:spcPct val="100000"/>
              </a:lnSpc>
              <a:spcBef>
                <a:spcPts val="1195"/>
              </a:spcBef>
              <a:buClr>
                <a:srgbClr val="3F3F3F"/>
              </a:buClr>
              <a:buAutoNum type="arabicPeriod"/>
              <a:tabLst>
                <a:tab pos="319405" algn="l"/>
              </a:tabLst>
            </a:pP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Encrypt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43434"/>
                </a:solidFill>
                <a:latin typeface="Calibri"/>
                <a:cs typeface="Calibri"/>
              </a:rPr>
              <a:t>selected</a:t>
            </a:r>
            <a:r>
              <a:rPr sz="2200" spc="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63636"/>
                </a:solidFill>
                <a:latin typeface="Calibri"/>
                <a:cs typeface="Calibri"/>
              </a:rPr>
              <a:t>vote</a:t>
            </a:r>
            <a:r>
              <a:rPr sz="2200" spc="2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200" spc="-85" dirty="0">
                <a:solidFill>
                  <a:srgbClr val="365264"/>
                </a:solidFill>
                <a:latin typeface="Calibri"/>
                <a:cs typeface="Calibri"/>
              </a:rPr>
              <a:t>data</a:t>
            </a:r>
            <a:r>
              <a:rPr sz="2200" spc="-60" dirty="0">
                <a:solidFill>
                  <a:srgbClr val="36526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Calibri"/>
                <a:cs typeface="Calibri"/>
              </a:rPr>
              <a:t>payload.</a:t>
            </a:r>
            <a:endParaRPr sz="2200">
              <a:latin typeface="Calibri"/>
              <a:cs typeface="Calibri"/>
            </a:endParaRPr>
          </a:p>
          <a:p>
            <a:pPr marL="318770" indent="-271780">
              <a:lnSpc>
                <a:spcPct val="100000"/>
              </a:lnSpc>
              <a:spcBef>
                <a:spcPts val="1195"/>
              </a:spcBef>
              <a:buClr>
                <a:srgbClr val="2D2D2D"/>
              </a:buClr>
              <a:buAutoNum type="arabicPeriod"/>
              <a:tabLst>
                <a:tab pos="318770" algn="l"/>
              </a:tabLst>
            </a:pPr>
            <a:r>
              <a:rPr sz="2200" spc="-85" dirty="0">
                <a:solidFill>
                  <a:srgbClr val="363636"/>
                </a:solidFill>
                <a:latin typeface="Calibri"/>
                <a:cs typeface="Calibri"/>
              </a:rPr>
              <a:t>Write</a:t>
            </a:r>
            <a:r>
              <a:rPr sz="2200" spc="-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83838"/>
                </a:solidFill>
                <a:latin typeface="Calibri"/>
                <a:cs typeface="Calibri"/>
              </a:rPr>
              <a:t>record</a:t>
            </a:r>
            <a:r>
              <a:rPr sz="2200" spc="-12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sz="2200" spc="-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A3A3A"/>
                </a:solidFill>
                <a:latin typeface="Calibri"/>
                <a:cs typeface="Calibri"/>
              </a:rPr>
              <a:t>Cloud</a:t>
            </a:r>
            <a:r>
              <a:rPr sz="2200" spc="-4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B6B85"/>
                </a:solidFill>
                <a:latin typeface="Calibri"/>
                <a:cs typeface="Calibri"/>
              </a:rPr>
              <a:t>DB</a:t>
            </a:r>
            <a:r>
              <a:rPr sz="2200" spc="-10" dirty="0">
                <a:solidFill>
                  <a:srgbClr val="4B6B85"/>
                </a:solidFill>
                <a:latin typeface="Calibri"/>
                <a:cs typeface="Calibri"/>
              </a:rPr>
              <a:t> </a:t>
            </a:r>
            <a:r>
              <a:rPr sz="2200" spc="-390" dirty="0">
                <a:solidFill>
                  <a:srgbClr val="4F5D72"/>
                </a:solidFill>
                <a:latin typeface="Calibri"/>
                <a:cs typeface="Calibri"/>
              </a:rPr>
              <a:t>&amp;</a:t>
            </a:r>
            <a:r>
              <a:rPr sz="2200" spc="65" dirty="0">
                <a:solidFill>
                  <a:srgbClr val="4F5D72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3F3F3F"/>
                </a:solidFill>
                <a:latin typeface="Calibri"/>
                <a:cs typeface="Calibri"/>
              </a:rPr>
              <a:t>mark</a:t>
            </a:r>
            <a:r>
              <a:rPr sz="22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343434"/>
                </a:solidFill>
                <a:latin typeface="Calibri"/>
                <a:cs typeface="Calibri"/>
              </a:rPr>
              <a:t>voted</a:t>
            </a:r>
            <a:r>
              <a:rPr sz="220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13131"/>
                </a:solidFill>
                <a:latin typeface="Calibri"/>
                <a:cs typeface="Calibri"/>
              </a:rPr>
              <a:t>status.</a:t>
            </a:r>
            <a:endParaRPr sz="2200">
              <a:latin typeface="Calibri"/>
              <a:cs typeface="Calibri"/>
            </a:endParaRPr>
          </a:p>
          <a:p>
            <a:pPr marL="320040" indent="-281305">
              <a:lnSpc>
                <a:spcPct val="100000"/>
              </a:lnSpc>
              <a:spcBef>
                <a:spcPts val="1190"/>
              </a:spcBef>
              <a:buClr>
                <a:srgbClr val="313131"/>
              </a:buClr>
              <a:buAutoNum type="arabicPeriod"/>
              <a:tabLst>
                <a:tab pos="320040" algn="l"/>
              </a:tabLst>
            </a:pPr>
            <a:r>
              <a:rPr sz="2200" spc="-25" dirty="0">
                <a:solidFill>
                  <a:srgbClr val="3A3A3A"/>
                </a:solidFill>
                <a:latin typeface="Calibri"/>
                <a:cs typeface="Calibri"/>
              </a:rPr>
              <a:t>Return</a:t>
            </a:r>
            <a:r>
              <a:rPr sz="2200" spc="-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333333"/>
                </a:solidFill>
                <a:latin typeface="Calibri"/>
                <a:cs typeface="Calibri"/>
              </a:rPr>
              <a:t>confirmation</a:t>
            </a:r>
            <a:r>
              <a:rPr sz="22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13131"/>
                </a:solidFill>
                <a:latin typeface="Calibri"/>
                <a:cs typeface="Calibri"/>
              </a:rPr>
              <a:t>receipt</a:t>
            </a:r>
            <a:r>
              <a:rPr sz="2200" spc="-7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63636"/>
                </a:solidFill>
                <a:latin typeface="Calibri"/>
                <a:cs typeface="Calibri"/>
              </a:rPr>
              <a:t>to</a:t>
            </a:r>
            <a:r>
              <a:rPr sz="2200" spc="-5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D2D2D"/>
                </a:solidFill>
                <a:latin typeface="Calibri"/>
                <a:cs typeface="Calibri"/>
              </a:rPr>
              <a:t>voter.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83875" y="2872682"/>
            <a:ext cx="5405120" cy="3549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80" dirty="0">
                <a:solidFill>
                  <a:srgbClr val="161616"/>
                </a:solidFill>
                <a:latin typeface="Arial"/>
                <a:cs typeface="Arial"/>
              </a:rPr>
              <a:t>Tallying</a:t>
            </a:r>
            <a:r>
              <a:rPr sz="2450" spc="204" dirty="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sz="2450" spc="114" dirty="0">
                <a:solidFill>
                  <a:srgbClr val="111111"/>
                </a:solidFill>
                <a:latin typeface="Arial"/>
                <a:cs typeface="Arial"/>
              </a:rPr>
              <a:t>Algorithm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450">
              <a:latin typeface="Arial"/>
              <a:cs typeface="Arial"/>
            </a:endParaRPr>
          </a:p>
          <a:p>
            <a:pPr marL="325120" indent="-281940">
              <a:lnSpc>
                <a:spcPct val="100000"/>
              </a:lnSpc>
              <a:spcBef>
                <a:spcPts val="5"/>
              </a:spcBef>
              <a:buClr>
                <a:srgbClr val="424242"/>
              </a:buClr>
              <a:buAutoNum type="arabicPeriod"/>
              <a:tabLst>
                <a:tab pos="325120" algn="l"/>
              </a:tabLst>
            </a:pPr>
            <a:r>
              <a:rPr sz="2200" spc="-10" dirty="0">
                <a:solidFill>
                  <a:srgbClr val="2D2D2D"/>
                </a:solidFill>
                <a:latin typeface="Calibri"/>
                <a:cs typeface="Calibri"/>
              </a:rPr>
              <a:t>Retrieve</a:t>
            </a:r>
            <a:r>
              <a:rPr sz="2200" spc="6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F2F2F"/>
                </a:solidFill>
                <a:latin typeface="Calibri"/>
                <a:cs typeface="Calibri"/>
              </a:rPr>
              <a:t>stored</a:t>
            </a:r>
            <a:r>
              <a:rPr sz="220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363636"/>
                </a:solidFill>
                <a:latin typeface="Calibri"/>
                <a:cs typeface="Calibri"/>
              </a:rPr>
              <a:t>vote</a:t>
            </a:r>
            <a:r>
              <a:rPr sz="2200" spc="-6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83838"/>
                </a:solidFill>
                <a:latin typeface="Calibri"/>
                <a:cs typeface="Calibri"/>
              </a:rPr>
              <a:t>records</a:t>
            </a:r>
            <a:r>
              <a:rPr sz="2200" spc="-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43434"/>
                </a:solidFill>
                <a:latin typeface="Calibri"/>
                <a:cs typeface="Calibri"/>
              </a:rPr>
              <a:t>from</a:t>
            </a:r>
            <a:r>
              <a:rPr sz="2200" spc="-7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database.</a:t>
            </a:r>
            <a:endParaRPr sz="2200">
              <a:latin typeface="Calibri"/>
              <a:cs typeface="Calibri"/>
            </a:endParaRPr>
          </a:p>
          <a:p>
            <a:pPr marL="325120" indent="-273685">
              <a:lnSpc>
                <a:spcPct val="100000"/>
              </a:lnSpc>
              <a:spcBef>
                <a:spcPts val="1190"/>
              </a:spcBef>
              <a:buClr>
                <a:srgbClr val="2D2D2D"/>
              </a:buClr>
              <a:buAutoNum type="arabicPeriod"/>
              <a:tabLst>
                <a:tab pos="325120" algn="l"/>
              </a:tabLst>
            </a:pPr>
            <a:r>
              <a:rPr sz="2200" dirty="0">
                <a:solidFill>
                  <a:srgbClr val="383838"/>
                </a:solidFill>
                <a:latin typeface="Calibri"/>
                <a:cs typeface="Calibri"/>
              </a:rPr>
              <a:t>Decrypt</a:t>
            </a:r>
            <a:r>
              <a:rPr sz="2200" spc="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A3A3A"/>
                </a:solidFill>
                <a:latin typeface="Calibri"/>
                <a:cs typeface="Calibri"/>
              </a:rPr>
              <a:t>votes</a:t>
            </a:r>
            <a:r>
              <a:rPr sz="2200" spc="-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13131"/>
                </a:solidFill>
                <a:latin typeface="Calibri"/>
                <a:cs typeface="Calibri"/>
              </a:rPr>
              <a:t>using</a:t>
            </a:r>
            <a:r>
              <a:rPr sz="2200" spc="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62626"/>
                </a:solidFill>
                <a:latin typeface="Calibri"/>
                <a:cs typeface="Calibri"/>
              </a:rPr>
              <a:t>server-</a:t>
            </a:r>
            <a:r>
              <a:rPr sz="2200" dirty="0">
                <a:solidFill>
                  <a:srgbClr val="262626"/>
                </a:solidFill>
                <a:latin typeface="Calibri"/>
                <a:cs typeface="Calibri"/>
              </a:rPr>
              <a:t>side</a:t>
            </a:r>
            <a:r>
              <a:rPr sz="2200" spc="1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43434"/>
                </a:solidFill>
                <a:latin typeface="Calibri"/>
                <a:cs typeface="Calibri"/>
              </a:rPr>
              <a:t>security</a:t>
            </a:r>
            <a:r>
              <a:rPr sz="220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282828"/>
                </a:solidFill>
                <a:latin typeface="Calibri"/>
                <a:cs typeface="Calibri"/>
              </a:rPr>
              <a:t>key.</a:t>
            </a:r>
            <a:endParaRPr sz="2200">
              <a:latin typeface="Calibri"/>
              <a:cs typeface="Calibri"/>
            </a:endParaRPr>
          </a:p>
          <a:p>
            <a:pPr marL="328295" indent="-275590">
              <a:lnSpc>
                <a:spcPct val="100000"/>
              </a:lnSpc>
              <a:spcBef>
                <a:spcPts val="1195"/>
              </a:spcBef>
              <a:buClr>
                <a:srgbClr val="333333"/>
              </a:buClr>
              <a:buAutoNum type="arabicPeriod"/>
              <a:tabLst>
                <a:tab pos="328295" algn="l"/>
              </a:tabLst>
            </a:pPr>
            <a:r>
              <a:rPr sz="2200" spc="-10" dirty="0">
                <a:solidFill>
                  <a:srgbClr val="313131"/>
                </a:solidFill>
                <a:latin typeface="Calibri"/>
                <a:cs typeface="Calibri"/>
              </a:rPr>
              <a:t>Aggregate</a:t>
            </a:r>
            <a:r>
              <a:rPr sz="2200" spc="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200" spc="-60" dirty="0">
                <a:solidFill>
                  <a:srgbClr val="2A2A2A"/>
                </a:solidFill>
                <a:latin typeface="Calibri"/>
                <a:cs typeface="Calibri"/>
              </a:rPr>
              <a:t>total</a:t>
            </a:r>
            <a:r>
              <a:rPr sz="2200" spc="-4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A3A3A"/>
                </a:solidFill>
                <a:latin typeface="Calibri"/>
                <a:cs typeface="Calibri"/>
              </a:rPr>
              <a:t>vote</a:t>
            </a:r>
            <a:r>
              <a:rPr sz="2200" spc="-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B3B3B"/>
                </a:solidFill>
                <a:latin typeface="Calibri"/>
                <a:cs typeface="Calibri"/>
              </a:rPr>
              <a:t>count</a:t>
            </a:r>
            <a:r>
              <a:rPr sz="2200" spc="-1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43434"/>
                </a:solidFill>
                <a:latin typeface="Calibri"/>
                <a:cs typeface="Calibri"/>
              </a:rPr>
              <a:t>per</a:t>
            </a:r>
            <a:r>
              <a:rPr sz="2200" spc="-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43434"/>
                </a:solidFill>
                <a:latin typeface="Calibri"/>
                <a:cs typeface="Calibri"/>
              </a:rPr>
              <a:t>candidate.</a:t>
            </a:r>
            <a:endParaRPr sz="2200">
              <a:latin typeface="Calibri"/>
              <a:cs typeface="Calibri"/>
            </a:endParaRPr>
          </a:p>
          <a:p>
            <a:pPr marL="325755" indent="-273050">
              <a:lnSpc>
                <a:spcPct val="100000"/>
              </a:lnSpc>
              <a:spcBef>
                <a:spcPts val="1195"/>
              </a:spcBef>
              <a:buClr>
                <a:srgbClr val="3F3F3F"/>
              </a:buClr>
              <a:buAutoNum type="arabicPeriod"/>
              <a:tabLst>
                <a:tab pos="325755" algn="l"/>
              </a:tabLst>
            </a:pPr>
            <a:r>
              <a:rPr sz="2200" spc="-25" dirty="0">
                <a:solidFill>
                  <a:srgbClr val="363636"/>
                </a:solidFill>
                <a:latin typeface="Calibri"/>
                <a:cs typeface="Calibri"/>
              </a:rPr>
              <a:t>Identify</a:t>
            </a:r>
            <a:r>
              <a:rPr sz="2200" spc="-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333333"/>
                </a:solidFill>
                <a:latin typeface="Calibri"/>
                <a:cs typeface="Calibri"/>
              </a:rPr>
              <a:t>candidate</a:t>
            </a:r>
            <a:r>
              <a:rPr sz="22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75" dirty="0">
                <a:solidFill>
                  <a:srgbClr val="444444"/>
                </a:solidFill>
                <a:latin typeface="Calibri"/>
                <a:cs typeface="Calibri"/>
              </a:rPr>
              <a:t>with</a:t>
            </a:r>
            <a:r>
              <a:rPr sz="2200" spc="-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383838"/>
                </a:solidFill>
                <a:latin typeface="Calibri"/>
                <a:cs typeface="Calibri"/>
              </a:rPr>
              <a:t>maximum</a:t>
            </a:r>
            <a:r>
              <a:rPr sz="2200" spc="3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A3A3A"/>
                </a:solidFill>
                <a:latin typeface="Calibri"/>
                <a:cs typeface="Calibri"/>
              </a:rPr>
              <a:t>valid</a:t>
            </a:r>
            <a:r>
              <a:rPr sz="2200" spc="-8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43434"/>
                </a:solidFill>
                <a:latin typeface="Calibri"/>
                <a:cs typeface="Calibri"/>
              </a:rPr>
              <a:t>votes.</a:t>
            </a:r>
            <a:endParaRPr sz="2200">
              <a:latin typeface="Calibri"/>
              <a:cs typeface="Calibri"/>
            </a:endParaRPr>
          </a:p>
          <a:p>
            <a:pPr marL="326390" indent="-272415">
              <a:lnSpc>
                <a:spcPct val="100000"/>
              </a:lnSpc>
              <a:spcBef>
                <a:spcPts val="1345"/>
              </a:spcBef>
              <a:buClr>
                <a:srgbClr val="414141"/>
              </a:buClr>
              <a:buAutoNum type="arabicPeriod"/>
              <a:tabLst>
                <a:tab pos="326390" algn="l"/>
              </a:tabLst>
            </a:pPr>
            <a:r>
              <a:rPr sz="2050" spc="45" dirty="0">
                <a:solidFill>
                  <a:srgbClr val="343434"/>
                </a:solidFill>
                <a:latin typeface="Calibri"/>
                <a:cs typeface="Calibri"/>
              </a:rPr>
              <a:t>Publish</a:t>
            </a:r>
            <a:r>
              <a:rPr sz="2050" spc="15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A4B5E"/>
                </a:solidFill>
                <a:latin typeface="Calibri"/>
                <a:cs typeface="Calibri"/>
              </a:rPr>
              <a:t>final</a:t>
            </a:r>
            <a:r>
              <a:rPr sz="2050" spc="135" dirty="0">
                <a:solidFill>
                  <a:srgbClr val="3A4B5E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44F6B"/>
                </a:solidFill>
                <a:latin typeface="Calibri"/>
                <a:cs typeface="Calibri"/>
              </a:rPr>
              <a:t>results</a:t>
            </a:r>
            <a:r>
              <a:rPr sz="2050" spc="210" dirty="0">
                <a:solidFill>
                  <a:srgbClr val="444F6B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43434"/>
                </a:solidFill>
                <a:latin typeface="Calibri"/>
                <a:cs typeface="Calibri"/>
              </a:rPr>
              <a:t>to</a:t>
            </a:r>
            <a:r>
              <a:rPr sz="2050" spc="1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24242"/>
                </a:solidFill>
                <a:latin typeface="Calibri"/>
                <a:cs typeface="Calibri"/>
              </a:rPr>
              <a:t>Admin</a:t>
            </a:r>
            <a:r>
              <a:rPr sz="2050" spc="2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383838"/>
                </a:solidFill>
                <a:latin typeface="Calibri"/>
                <a:cs typeface="Calibri"/>
              </a:rPr>
              <a:t>dashboard.</a:t>
            </a:r>
            <a:endParaRPr sz="2050">
              <a:latin typeface="Calibri"/>
              <a:cs typeface="Calibri"/>
            </a:endParaRPr>
          </a:p>
          <a:p>
            <a:pPr marL="328930" indent="-284480">
              <a:lnSpc>
                <a:spcPct val="100000"/>
              </a:lnSpc>
              <a:spcBef>
                <a:spcPts val="1220"/>
              </a:spcBef>
              <a:buAutoNum type="arabicPeriod"/>
              <a:tabLst>
                <a:tab pos="328930" algn="l"/>
              </a:tabLst>
            </a:pPr>
            <a:r>
              <a:rPr sz="2200" spc="-40" dirty="0">
                <a:solidFill>
                  <a:srgbClr val="313131"/>
                </a:solidFill>
                <a:latin typeface="Calibri"/>
                <a:cs typeface="Calibri"/>
              </a:rPr>
              <a:t>Generate</a:t>
            </a:r>
            <a:r>
              <a:rPr sz="2200" spc="7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B3B3B"/>
                </a:solidFill>
                <a:latin typeface="Calibri"/>
                <a:cs typeface="Calibri"/>
              </a:rPr>
              <a:t>system</a:t>
            </a:r>
            <a:r>
              <a:rPr sz="2200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spc="-70" dirty="0">
                <a:solidFill>
                  <a:srgbClr val="3F3F3F"/>
                </a:solidFill>
                <a:latin typeface="Calibri"/>
                <a:cs typeface="Calibri"/>
              </a:rPr>
              <a:t>audit</a:t>
            </a:r>
            <a:r>
              <a:rPr sz="22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83838"/>
                </a:solidFill>
                <a:latin typeface="Calibri"/>
                <a:cs typeface="Calibri"/>
              </a:rPr>
              <a:t>log</a:t>
            </a:r>
            <a:r>
              <a:rPr sz="2200" spc="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12121"/>
                </a:solidFill>
                <a:latin typeface="Calibri"/>
                <a:cs typeface="Calibri"/>
              </a:rPr>
              <a:t>summary.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1247288" y="959129"/>
            <a:ext cx="1403985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145" dirty="0">
                <a:solidFill>
                  <a:srgbClr val="2D5EDF"/>
                </a:solidFill>
                <a:latin typeface="Arial"/>
                <a:cs typeface="Arial"/>
              </a:rPr>
              <a:t>CO</a:t>
            </a:r>
            <a:r>
              <a:rPr sz="1900" spc="-254" dirty="0">
                <a:solidFill>
                  <a:srgbClr val="2D5ED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86EF4"/>
                </a:solidFill>
                <a:latin typeface="Arial"/>
                <a:cs typeface="Arial"/>
              </a:rPr>
              <a:t>DE</a:t>
            </a:r>
            <a:r>
              <a:rPr sz="1900" spc="20" dirty="0">
                <a:solidFill>
                  <a:srgbClr val="286EF4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2162EF"/>
                </a:solidFill>
                <a:latin typeface="Arial"/>
                <a:cs typeface="Arial"/>
              </a:rPr>
              <a:t>BASE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4250" spc="55" dirty="0">
                <a:latin typeface="Arial"/>
                <a:cs typeface="Arial"/>
              </a:rPr>
              <a:t>Frontend</a:t>
            </a:r>
            <a:r>
              <a:rPr sz="4250" spc="-300" dirty="0">
                <a:latin typeface="Arial"/>
                <a:cs typeface="Arial"/>
              </a:rPr>
              <a:t> </a:t>
            </a:r>
            <a:r>
              <a:rPr sz="4250" spc="140" dirty="0">
                <a:latin typeface="Arial"/>
                <a:cs typeface="Arial"/>
              </a:rPr>
              <a:t>Implementation</a:t>
            </a:r>
            <a:r>
              <a:rPr sz="4250" spc="-665" dirty="0">
                <a:latin typeface="Arial"/>
                <a:cs typeface="Arial"/>
              </a:rPr>
              <a:t> </a:t>
            </a:r>
            <a:r>
              <a:rPr sz="4250" spc="80" dirty="0">
                <a:solidFill>
                  <a:srgbClr val="151515"/>
                </a:solidFill>
                <a:latin typeface="Arial"/>
                <a:cs typeface="Arial"/>
              </a:rPr>
              <a:t>Highlights</a:t>
            </a:r>
            <a:endParaRPr sz="42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27629" y="2450575"/>
            <a:ext cx="44996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i="1" dirty="0">
                <a:solidFill>
                  <a:srgbClr val="676987"/>
                </a:solidFill>
                <a:latin typeface="Arial"/>
                <a:cs typeface="Arial"/>
              </a:rPr>
              <a:t>||</a:t>
            </a:r>
            <a:r>
              <a:rPr sz="2050" i="1" spc="10" dirty="0">
                <a:solidFill>
                  <a:srgbClr val="676987"/>
                </a:solidFill>
                <a:latin typeface="Arial"/>
                <a:cs typeface="Arial"/>
              </a:rPr>
              <a:t> </a:t>
            </a:r>
            <a:r>
              <a:rPr sz="2050" spc="-125" dirty="0">
                <a:solidFill>
                  <a:srgbClr val="72778C"/>
                </a:solidFill>
                <a:latin typeface="Arial"/>
                <a:cs typeface="Arial"/>
              </a:rPr>
              <a:t>Sample</a:t>
            </a:r>
            <a:r>
              <a:rPr sz="2050" spc="20" dirty="0">
                <a:solidFill>
                  <a:srgbClr val="72778C"/>
                </a:solidFill>
                <a:latin typeface="Arial"/>
                <a:cs typeface="Arial"/>
              </a:rPr>
              <a:t> </a:t>
            </a:r>
            <a:r>
              <a:rPr sz="2050" spc="-55" dirty="0">
                <a:solidFill>
                  <a:srgbClr val="797979"/>
                </a:solidFill>
                <a:latin typeface="Arial"/>
                <a:cs typeface="Arial"/>
              </a:rPr>
              <a:t>Voting</a:t>
            </a:r>
            <a:r>
              <a:rPr sz="2050" spc="6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2050" spc="-370" dirty="0">
                <a:solidFill>
                  <a:srgbClr val="54729A"/>
                </a:solidFill>
                <a:latin typeface="Arial"/>
                <a:cs typeface="Arial"/>
              </a:rPr>
              <a:t>&amp;</a:t>
            </a:r>
            <a:r>
              <a:rPr sz="2050" spc="-40" dirty="0">
                <a:solidFill>
                  <a:srgbClr val="54729A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srgbClr val="60707C"/>
                </a:solidFill>
                <a:latin typeface="Arial"/>
                <a:cs typeface="Arial"/>
              </a:rPr>
              <a:t>Duplicate</a:t>
            </a:r>
            <a:r>
              <a:rPr sz="2050" spc="25" dirty="0">
                <a:solidFill>
                  <a:srgbClr val="60707C"/>
                </a:solidFill>
                <a:latin typeface="Arial"/>
                <a:cs typeface="Arial"/>
              </a:rPr>
              <a:t> </a:t>
            </a:r>
            <a:r>
              <a:rPr sz="2050" spc="-130" dirty="0">
                <a:solidFill>
                  <a:srgbClr val="707070"/>
                </a:solidFill>
                <a:latin typeface="Arial"/>
                <a:cs typeface="Arial"/>
              </a:rPr>
              <a:t>Check</a:t>
            </a:r>
            <a:r>
              <a:rPr sz="2050" spc="-15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757575"/>
                </a:solidFill>
                <a:latin typeface="Arial"/>
                <a:cs typeface="Arial"/>
              </a:rPr>
              <a:t>Logic</a:t>
            </a:r>
            <a:endParaRPr sz="2050">
              <a:latin typeface="Arial"/>
              <a:cs typeface="Arial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1602045" y="3266916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510455" y="212035"/>
                </a:moveTo>
                <a:lnTo>
                  <a:pt x="0" y="212035"/>
                </a:lnTo>
                <a:lnTo>
                  <a:pt x="0" y="0"/>
                </a:lnTo>
                <a:lnTo>
                  <a:pt x="510455" y="0"/>
                </a:lnTo>
                <a:lnTo>
                  <a:pt x="510455" y="212035"/>
                </a:lnTo>
                <a:close/>
              </a:path>
            </a:pathLst>
          </a:custGeom>
          <a:solidFill>
            <a:srgbClr val="0A15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67473" y="3266916"/>
            <a:ext cx="9353550" cy="259715"/>
          </a:xfrm>
          <a:custGeom>
            <a:avLst/>
            <a:gdLst/>
            <a:ahLst/>
            <a:cxnLst/>
            <a:rect l="l" t="t" r="r" b="b"/>
            <a:pathLst>
              <a:path w="9353550" h="259714">
                <a:moveTo>
                  <a:pt x="9353118" y="259154"/>
                </a:moveTo>
                <a:lnTo>
                  <a:pt x="0" y="259154"/>
                </a:lnTo>
                <a:lnTo>
                  <a:pt x="0" y="0"/>
                </a:lnTo>
                <a:lnTo>
                  <a:pt x="9353118" y="0"/>
                </a:lnTo>
                <a:lnTo>
                  <a:pt x="9353118" y="259154"/>
                </a:lnTo>
                <a:close/>
              </a:path>
            </a:pathLst>
          </a:custGeom>
          <a:solidFill>
            <a:srgbClr val="0F16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026116" y="3659574"/>
            <a:ext cx="165100" cy="212090"/>
          </a:xfrm>
          <a:custGeom>
            <a:avLst/>
            <a:gdLst/>
            <a:ahLst/>
            <a:cxnLst/>
            <a:rect l="l" t="t" r="r" b="b"/>
            <a:pathLst>
              <a:path w="165100" h="212089">
                <a:moveTo>
                  <a:pt x="164916" y="212035"/>
                </a:moveTo>
                <a:lnTo>
                  <a:pt x="0" y="212035"/>
                </a:lnTo>
                <a:lnTo>
                  <a:pt x="0" y="0"/>
                </a:lnTo>
                <a:lnTo>
                  <a:pt x="164916" y="0"/>
                </a:lnTo>
                <a:lnTo>
                  <a:pt x="164916" y="212035"/>
                </a:lnTo>
                <a:close/>
              </a:path>
            </a:pathLst>
          </a:custGeom>
          <a:solidFill>
            <a:srgbClr val="0A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293123" y="3659574"/>
            <a:ext cx="9227820" cy="652145"/>
            <a:chOff x="2293123" y="3659574"/>
            <a:chExt cx="9227820" cy="6521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3123" y="3675280"/>
              <a:ext cx="125650" cy="2355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3123" y="3675280"/>
              <a:ext cx="125650" cy="23559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50187" y="3659574"/>
              <a:ext cx="9070975" cy="652145"/>
            </a:xfrm>
            <a:custGeom>
              <a:avLst/>
              <a:gdLst/>
              <a:ahLst/>
              <a:cxnLst/>
              <a:rect l="l" t="t" r="r" b="b"/>
              <a:pathLst>
                <a:path w="9070975" h="652145">
                  <a:moveTo>
                    <a:pt x="9070405" y="651812"/>
                  </a:moveTo>
                  <a:lnTo>
                    <a:pt x="0" y="651812"/>
                  </a:lnTo>
                  <a:lnTo>
                    <a:pt x="0" y="0"/>
                  </a:lnTo>
                  <a:lnTo>
                    <a:pt x="9070405" y="0"/>
                  </a:lnTo>
                  <a:lnTo>
                    <a:pt x="9070405" y="651812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2151766" y="4099351"/>
            <a:ext cx="259715" cy="149225"/>
          </a:xfrm>
          <a:custGeom>
            <a:avLst/>
            <a:gdLst/>
            <a:ahLst/>
            <a:cxnLst/>
            <a:rect l="l" t="t" r="r" b="b"/>
            <a:pathLst>
              <a:path w="259714" h="149225">
                <a:moveTo>
                  <a:pt x="259154" y="149210"/>
                </a:moveTo>
                <a:lnTo>
                  <a:pt x="0" y="149210"/>
                </a:lnTo>
                <a:lnTo>
                  <a:pt x="0" y="0"/>
                </a:lnTo>
                <a:lnTo>
                  <a:pt x="259154" y="0"/>
                </a:lnTo>
                <a:lnTo>
                  <a:pt x="259154" y="149210"/>
                </a:lnTo>
                <a:close/>
              </a:path>
            </a:pathLst>
          </a:custGeom>
          <a:solidFill>
            <a:srgbClr val="0013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69052" y="4806136"/>
            <a:ext cx="259715" cy="212090"/>
          </a:xfrm>
          <a:custGeom>
            <a:avLst/>
            <a:gdLst/>
            <a:ahLst/>
            <a:cxnLst/>
            <a:rect l="l" t="t" r="r" b="b"/>
            <a:pathLst>
              <a:path w="259714" h="212089">
                <a:moveTo>
                  <a:pt x="259154" y="212035"/>
                </a:moveTo>
                <a:lnTo>
                  <a:pt x="0" y="212035"/>
                </a:lnTo>
                <a:lnTo>
                  <a:pt x="0" y="0"/>
                </a:lnTo>
                <a:lnTo>
                  <a:pt x="259154" y="0"/>
                </a:lnTo>
                <a:lnTo>
                  <a:pt x="259154" y="212035"/>
                </a:lnTo>
                <a:close/>
              </a:path>
            </a:pathLst>
          </a:custGeom>
          <a:solidFill>
            <a:srgbClr val="0A1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93123" y="4806136"/>
            <a:ext cx="9227820" cy="259715"/>
          </a:xfrm>
          <a:custGeom>
            <a:avLst/>
            <a:gdLst/>
            <a:ahLst/>
            <a:cxnLst/>
            <a:rect l="l" t="t" r="r" b="b"/>
            <a:pathLst>
              <a:path w="9227820" h="259714">
                <a:moveTo>
                  <a:pt x="9227468" y="259154"/>
                </a:moveTo>
                <a:lnTo>
                  <a:pt x="0" y="259154"/>
                </a:lnTo>
                <a:lnTo>
                  <a:pt x="0" y="0"/>
                </a:lnTo>
                <a:lnTo>
                  <a:pt x="9227468" y="0"/>
                </a:lnTo>
                <a:lnTo>
                  <a:pt x="9227468" y="259154"/>
                </a:lnTo>
                <a:close/>
              </a:path>
            </a:pathLst>
          </a:custGeom>
          <a:solidFill>
            <a:srgbClr val="0C162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2151766" y="5198794"/>
            <a:ext cx="9369425" cy="274955"/>
            <a:chOff x="2151766" y="5198794"/>
            <a:chExt cx="9369425" cy="274955"/>
          </a:xfrm>
        </p:grpSpPr>
        <p:sp>
          <p:nvSpPr>
            <p:cNvPr id="24" name="object 24"/>
            <p:cNvSpPr/>
            <p:nvPr/>
          </p:nvSpPr>
          <p:spPr>
            <a:xfrm>
              <a:off x="2151766" y="5261620"/>
              <a:ext cx="259715" cy="149225"/>
            </a:xfrm>
            <a:custGeom>
              <a:avLst/>
              <a:gdLst/>
              <a:ahLst/>
              <a:cxnLst/>
              <a:rect l="l" t="t" r="r" b="b"/>
              <a:pathLst>
                <a:path w="259714" h="149225">
                  <a:moveTo>
                    <a:pt x="259154" y="149210"/>
                  </a:moveTo>
                  <a:lnTo>
                    <a:pt x="0" y="149210"/>
                  </a:lnTo>
                  <a:lnTo>
                    <a:pt x="0" y="0"/>
                  </a:lnTo>
                  <a:lnTo>
                    <a:pt x="259154" y="0"/>
                  </a:lnTo>
                  <a:lnTo>
                    <a:pt x="259154" y="149210"/>
                  </a:lnTo>
                  <a:close/>
                </a:path>
              </a:pathLst>
            </a:custGeom>
            <a:solidFill>
              <a:srgbClr val="0A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50187" y="5198794"/>
              <a:ext cx="9070975" cy="274955"/>
            </a:xfrm>
            <a:custGeom>
              <a:avLst/>
              <a:gdLst/>
              <a:ahLst/>
              <a:cxnLst/>
              <a:rect l="l" t="t" r="r" b="b"/>
              <a:pathLst>
                <a:path w="9070975" h="274954">
                  <a:moveTo>
                    <a:pt x="9070405" y="274860"/>
                  </a:moveTo>
                  <a:lnTo>
                    <a:pt x="0" y="274860"/>
                  </a:lnTo>
                  <a:lnTo>
                    <a:pt x="0" y="0"/>
                  </a:lnTo>
                  <a:lnTo>
                    <a:pt x="9070405" y="0"/>
                  </a:lnTo>
                  <a:lnTo>
                    <a:pt x="9070405" y="27486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869052" y="5968404"/>
            <a:ext cx="471805" cy="220345"/>
            <a:chOff x="1869052" y="5968404"/>
            <a:chExt cx="471805" cy="220345"/>
          </a:xfrm>
        </p:grpSpPr>
        <p:sp>
          <p:nvSpPr>
            <p:cNvPr id="8" name="object 8"/>
            <p:cNvSpPr/>
            <p:nvPr/>
          </p:nvSpPr>
          <p:spPr>
            <a:xfrm>
              <a:off x="1869052" y="5968404"/>
              <a:ext cx="259715" cy="212090"/>
            </a:xfrm>
            <a:custGeom>
              <a:avLst/>
              <a:gdLst/>
              <a:ahLst/>
              <a:cxnLst/>
              <a:rect l="l" t="t" r="r" b="b"/>
              <a:pathLst>
                <a:path w="259714" h="212089">
                  <a:moveTo>
                    <a:pt x="259154" y="212035"/>
                  </a:moveTo>
                  <a:lnTo>
                    <a:pt x="0" y="212035"/>
                  </a:lnTo>
                  <a:lnTo>
                    <a:pt x="0" y="0"/>
                  </a:lnTo>
                  <a:lnTo>
                    <a:pt x="259154" y="0"/>
                  </a:lnTo>
                  <a:lnTo>
                    <a:pt x="259154" y="212035"/>
                  </a:lnTo>
                  <a:close/>
                </a:path>
              </a:pathLst>
            </a:custGeom>
            <a:solidFill>
              <a:srgbClr val="0C15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7473" y="6015523"/>
              <a:ext cx="86384" cy="1570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7473" y="5999817"/>
              <a:ext cx="172769" cy="188475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2418774" y="5968404"/>
            <a:ext cx="9102090" cy="212090"/>
          </a:xfrm>
          <a:custGeom>
            <a:avLst/>
            <a:gdLst/>
            <a:ahLst/>
            <a:cxnLst/>
            <a:rect l="l" t="t" r="r" b="b"/>
            <a:pathLst>
              <a:path w="9102090" h="212089">
                <a:moveTo>
                  <a:pt x="9101817" y="212035"/>
                </a:moveTo>
                <a:lnTo>
                  <a:pt x="0" y="212035"/>
                </a:lnTo>
                <a:lnTo>
                  <a:pt x="0" y="0"/>
                </a:lnTo>
                <a:lnTo>
                  <a:pt x="9101817" y="0"/>
                </a:lnTo>
                <a:lnTo>
                  <a:pt x="9101817" y="212035"/>
                </a:lnTo>
                <a:close/>
              </a:path>
            </a:pathLst>
          </a:custGeom>
          <a:solidFill>
            <a:srgbClr val="0F1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53336" y="7114978"/>
            <a:ext cx="9667875" cy="259715"/>
          </a:xfrm>
          <a:custGeom>
            <a:avLst/>
            <a:gdLst/>
            <a:ahLst/>
            <a:cxnLst/>
            <a:rect l="l" t="t" r="r" b="b"/>
            <a:pathLst>
              <a:path w="9667875" h="259715">
                <a:moveTo>
                  <a:pt x="274866" y="62814"/>
                </a:moveTo>
                <a:lnTo>
                  <a:pt x="0" y="62814"/>
                </a:lnTo>
                <a:lnTo>
                  <a:pt x="0" y="212026"/>
                </a:lnTo>
                <a:lnTo>
                  <a:pt x="274866" y="212026"/>
                </a:lnTo>
                <a:lnTo>
                  <a:pt x="274866" y="62814"/>
                </a:lnTo>
                <a:close/>
              </a:path>
              <a:path w="9667875" h="259715">
                <a:moveTo>
                  <a:pt x="9667253" y="0"/>
                </a:moveTo>
                <a:lnTo>
                  <a:pt x="314134" y="0"/>
                </a:lnTo>
                <a:lnTo>
                  <a:pt x="314134" y="259143"/>
                </a:lnTo>
                <a:lnTo>
                  <a:pt x="9667253" y="259143"/>
                </a:lnTo>
                <a:lnTo>
                  <a:pt x="9667253" y="0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853346" y="7507624"/>
            <a:ext cx="9667240" cy="243840"/>
            <a:chOff x="1853346" y="7507624"/>
            <a:chExt cx="9667240" cy="243840"/>
          </a:xfrm>
        </p:grpSpPr>
        <p:sp>
          <p:nvSpPr>
            <p:cNvPr id="13" name="object 13"/>
            <p:cNvSpPr/>
            <p:nvPr/>
          </p:nvSpPr>
          <p:spPr>
            <a:xfrm>
              <a:off x="1853346" y="7570450"/>
              <a:ext cx="274955" cy="149225"/>
            </a:xfrm>
            <a:custGeom>
              <a:avLst/>
              <a:gdLst/>
              <a:ahLst/>
              <a:cxnLst/>
              <a:rect l="l" t="t" r="r" b="b"/>
              <a:pathLst>
                <a:path w="274955" h="149225">
                  <a:moveTo>
                    <a:pt x="274860" y="149210"/>
                  </a:moveTo>
                  <a:lnTo>
                    <a:pt x="0" y="149210"/>
                  </a:lnTo>
                  <a:lnTo>
                    <a:pt x="0" y="0"/>
                  </a:lnTo>
                  <a:lnTo>
                    <a:pt x="274860" y="0"/>
                  </a:lnTo>
                  <a:lnTo>
                    <a:pt x="274860" y="14921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67473" y="7507624"/>
              <a:ext cx="9353550" cy="243840"/>
            </a:xfrm>
            <a:custGeom>
              <a:avLst/>
              <a:gdLst/>
              <a:ahLst/>
              <a:cxnLst/>
              <a:rect l="l" t="t" r="r" b="b"/>
              <a:pathLst>
                <a:path w="9353550" h="243840">
                  <a:moveTo>
                    <a:pt x="9353118" y="243448"/>
                  </a:moveTo>
                  <a:lnTo>
                    <a:pt x="0" y="243448"/>
                  </a:lnTo>
                  <a:lnTo>
                    <a:pt x="0" y="0"/>
                  </a:lnTo>
                  <a:lnTo>
                    <a:pt x="9353118" y="0"/>
                  </a:lnTo>
                  <a:lnTo>
                    <a:pt x="9353118" y="243448"/>
                  </a:lnTo>
                  <a:close/>
                </a:path>
              </a:pathLst>
            </a:custGeom>
            <a:solidFill>
              <a:srgbClr val="0F1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1853346" y="8277235"/>
            <a:ext cx="6322060" cy="652145"/>
          </a:xfrm>
          <a:custGeom>
            <a:avLst/>
            <a:gdLst/>
            <a:ahLst/>
            <a:cxnLst/>
            <a:rect l="l" t="t" r="r" b="b"/>
            <a:pathLst>
              <a:path w="6322059" h="652145">
                <a:moveTo>
                  <a:pt x="6321797" y="651812"/>
                </a:moveTo>
                <a:lnTo>
                  <a:pt x="0" y="651812"/>
                </a:lnTo>
                <a:lnTo>
                  <a:pt x="0" y="0"/>
                </a:lnTo>
                <a:lnTo>
                  <a:pt x="6321797" y="0"/>
                </a:lnTo>
                <a:lnTo>
                  <a:pt x="6321797" y="651812"/>
                </a:lnTo>
                <a:close/>
              </a:path>
            </a:pathLst>
          </a:custGeom>
          <a:solidFill>
            <a:srgbClr val="0F16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86339" y="9062551"/>
            <a:ext cx="173355" cy="251460"/>
            <a:chOff x="1586339" y="9062551"/>
            <a:chExt cx="173355" cy="251460"/>
          </a:xfrm>
        </p:grpSpPr>
        <p:pic>
          <p:nvPicPr>
            <p:cNvPr id="4" name="object 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6339" y="9062551"/>
              <a:ext cx="172769" cy="2513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6339" y="9062551"/>
              <a:ext cx="172769" cy="251301"/>
            </a:xfrm>
            <a:prstGeom prst="rect">
              <a:avLst/>
            </a:prstGeom>
          </p:spPr>
        </p:pic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240799" y="2921377"/>
          <a:ext cx="10240645" cy="6744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0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1854"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2120"/>
                        </a:spcBef>
                      </a:pPr>
                      <a:r>
                        <a:rPr sz="20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func</a:t>
                      </a:r>
                      <a:r>
                        <a:rPr sz="2050" spc="-1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tion</a:t>
                      </a:r>
                      <a:r>
                        <a:rPr sz="2050" spc="-22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vote()</a:t>
                      </a:r>
                      <a:r>
                        <a:rPr sz="2050" spc="-21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spc="-50" dirty="0">
                          <a:solidFill>
                            <a:srgbClr val="F9F9F9"/>
                          </a:solidFill>
                          <a:latin typeface="Consolas"/>
                          <a:cs typeface="Consolas"/>
                        </a:rPr>
                        <a:t>(</a:t>
                      </a:r>
                      <a:endParaRPr sz="2050">
                        <a:latin typeface="Consolas"/>
                        <a:cs typeface="Consolas"/>
                      </a:endParaRPr>
                    </a:p>
                    <a:p>
                      <a:pPr marL="770255">
                        <a:lnSpc>
                          <a:spcPct val="100000"/>
                        </a:lnSpc>
                        <a:spcBef>
                          <a:spcPts val="385"/>
                        </a:spcBef>
                        <a:tabLst>
                          <a:tab pos="1165860" algn="l"/>
                        </a:tabLst>
                      </a:pPr>
                      <a:r>
                        <a:rPr sz="23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23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!loginStatus)</a:t>
                      </a:r>
                      <a:endParaRPr sz="2050">
                        <a:latin typeface="Consolas"/>
                        <a:cs typeface="Consolas"/>
                      </a:endParaRPr>
                    </a:p>
                    <a:p>
                      <a:pPr marL="88900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2050" spc="-8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re</a:t>
                      </a:r>
                      <a:r>
                        <a:rPr sz="2050" spc="-80" dirty="0">
                          <a:solidFill>
                            <a:srgbClr val="F9F9F9"/>
                          </a:solidFill>
                          <a:latin typeface="Courier New"/>
                          <a:cs typeface="Courier New"/>
                        </a:rPr>
                        <a:t>turn</a:t>
                      </a:r>
                      <a:r>
                        <a:rPr sz="2050" spc="-210" dirty="0">
                          <a:solidFill>
                            <a:srgbClr val="F9F9F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spc="-114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”Please</a:t>
                      </a:r>
                      <a:r>
                        <a:rPr sz="2050" spc="-18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spc="-10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Login</a:t>
                      </a:r>
                      <a:r>
                        <a:rPr sz="2050" spc="-175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Courier New"/>
                          <a:cs typeface="Courier New"/>
                        </a:rPr>
                        <a:t>First”;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03250">
                        <a:lnSpc>
                          <a:spcPct val="100000"/>
                        </a:lnSpc>
                      </a:pPr>
                      <a:r>
                        <a:rPr sz="190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if</a:t>
                      </a:r>
                      <a:r>
                        <a:rPr sz="1900" spc="28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spc="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(voted)</a:t>
                      </a:r>
                      <a:endParaRPr sz="2050">
                        <a:latin typeface="Arial"/>
                        <a:cs typeface="Arial"/>
                      </a:endParaRPr>
                    </a:p>
                    <a:p>
                      <a:pPr marL="8890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2050" spc="-90" dirty="0">
                          <a:solidFill>
                            <a:srgbClr val="F2F2F2"/>
                          </a:solidFill>
                          <a:latin typeface="Consolas"/>
                          <a:cs typeface="Consolas"/>
                        </a:rPr>
                        <a:t>re</a:t>
                      </a:r>
                      <a:r>
                        <a:rPr sz="2050" spc="-869" dirty="0">
                          <a:solidFill>
                            <a:srgbClr val="F2F2F2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9F9F9"/>
                          </a:solidFill>
                          <a:latin typeface="Consolas"/>
                          <a:cs typeface="Consolas"/>
                        </a:rPr>
                        <a:t>turn</a:t>
                      </a:r>
                      <a:r>
                        <a:rPr sz="2050" spc="-80" dirty="0">
                          <a:solidFill>
                            <a:srgbClr val="F9F9F9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spc="-2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”You</a:t>
                      </a:r>
                      <a:r>
                        <a:rPr sz="2050" spc="-21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have</a:t>
                      </a:r>
                      <a:r>
                        <a:rPr sz="2050" spc="-16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already</a:t>
                      </a:r>
                      <a:r>
                        <a:rPr sz="2050" spc="-13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voted";</a:t>
                      </a:r>
                      <a:endParaRPr sz="20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601980">
                        <a:lnSpc>
                          <a:spcPct val="100000"/>
                        </a:lnSpc>
                      </a:pP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le</a:t>
                      </a:r>
                      <a:r>
                        <a:rPr sz="2050" spc="-114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candidate</a:t>
                      </a:r>
                      <a:r>
                        <a:rPr sz="2050" spc="3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50" spc="-13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document</a:t>
                      </a:r>
                      <a:endParaRPr sz="2050">
                        <a:latin typeface="Consolas"/>
                        <a:cs typeface="Consolas"/>
                      </a:endParaRPr>
                    </a:p>
                  </a:txBody>
                  <a:tcPr marL="0" marR="0" marT="269240" marB="0">
                    <a:lnL w="28575">
                      <a:solidFill>
                        <a:srgbClr val="0C1328"/>
                      </a:solidFill>
                      <a:prstDash val="solid"/>
                    </a:lnL>
                    <a:lnR w="28575">
                      <a:solidFill>
                        <a:srgbClr val="0C1328"/>
                      </a:solidFill>
                      <a:prstDash val="solid"/>
                    </a:lnR>
                    <a:lnT w="28575">
                      <a:solidFill>
                        <a:srgbClr val="0C132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888365">
                        <a:lnSpc>
                          <a:spcPts val="1955"/>
                        </a:lnSpc>
                      </a:pP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.getElementById(”candidate").value;</a:t>
                      </a:r>
                      <a:endParaRPr sz="2050">
                        <a:latin typeface="Consolas"/>
                        <a:cs typeface="Consolas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8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15950">
                        <a:lnSpc>
                          <a:spcPct val="100000"/>
                        </a:lnSpc>
                      </a:pPr>
                      <a:r>
                        <a:rPr sz="1650" spc="7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VO</a:t>
                      </a:r>
                      <a:r>
                        <a:rPr sz="1650" spc="-57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90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tes[candidate]++;</a:t>
                      </a:r>
                      <a:endParaRPr sz="1900">
                        <a:latin typeface="Consolas"/>
                        <a:cs typeface="Consolas"/>
                      </a:endParaRPr>
                    </a:p>
                    <a:p>
                      <a:pPr marL="615950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1450340" algn="l"/>
                        </a:tabLst>
                      </a:pPr>
                      <a:r>
                        <a:rPr sz="1650" spc="7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VO</a:t>
                      </a:r>
                      <a:r>
                        <a:rPr sz="1650" spc="-58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9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ted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=</a:t>
                      </a:r>
                      <a:r>
                        <a:rPr sz="1900" spc="459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solidFill>
                            <a:srgbClr val="F9F9F9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900" spc="180" dirty="0">
                          <a:solidFill>
                            <a:srgbClr val="F9F9F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rue</a:t>
                      </a:r>
                      <a:r>
                        <a:rPr sz="1900" spc="2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9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;</a:t>
                      </a:r>
                      <a:endParaRPr sz="19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4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01980">
                        <a:lnSpc>
                          <a:spcPct val="100000"/>
                        </a:lnSpc>
                      </a:pP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document.getElementById("message")</a:t>
                      </a:r>
                      <a:endParaRPr sz="2050">
                        <a:latin typeface="Consolas"/>
                        <a:cs typeface="Consolas"/>
                      </a:endParaRPr>
                    </a:p>
                    <a:p>
                      <a:pPr marL="88836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.innerHTML</a:t>
                      </a:r>
                      <a:r>
                        <a:rPr sz="2050" spc="-7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=</a:t>
                      </a:r>
                      <a:r>
                        <a:rPr sz="2050" spc="-24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"Vote</a:t>
                      </a:r>
                      <a:r>
                        <a:rPr sz="2050" spc="-114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Submitted</a:t>
                      </a:r>
                      <a:r>
                        <a:rPr sz="2050" spc="-135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2050" spc="-10" dirty="0">
                          <a:solidFill>
                            <a:srgbClr val="FFFFFF"/>
                          </a:solidFill>
                          <a:latin typeface="Consolas"/>
                          <a:cs typeface="Consolas"/>
                        </a:rPr>
                        <a:t>Successfully“;</a:t>
                      </a:r>
                      <a:endParaRPr sz="2050">
                        <a:latin typeface="Consolas"/>
                        <a:cs typeface="Consolas"/>
                      </a:endParaRPr>
                    </a:p>
                  </a:txBody>
                  <a:tcPr marL="0" marR="0" marT="172085" marB="0">
                    <a:lnL w="28575">
                      <a:solidFill>
                        <a:srgbClr val="0C1328"/>
                      </a:solidFill>
                      <a:prstDash val="solid"/>
                    </a:lnL>
                    <a:lnR w="28575">
                      <a:solidFill>
                        <a:srgbClr val="0C1328"/>
                      </a:solidFill>
                      <a:prstDash val="solid"/>
                    </a:lnR>
                    <a:lnB w="28575">
                      <a:solidFill>
                        <a:srgbClr val="0C132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12397388" y="2764702"/>
            <a:ext cx="5953125" cy="12350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050" spc="190" dirty="0">
                <a:solidFill>
                  <a:srgbClr val="3167DB"/>
                </a:solidFill>
                <a:latin typeface="Arial"/>
                <a:cs typeface="Arial"/>
              </a:rPr>
              <a:t>Frontend</a:t>
            </a:r>
            <a:r>
              <a:rPr sz="2050" spc="60" dirty="0">
                <a:solidFill>
                  <a:srgbClr val="3167DB"/>
                </a:solidFill>
                <a:latin typeface="Arial"/>
                <a:cs typeface="Arial"/>
              </a:rPr>
              <a:t> </a:t>
            </a:r>
            <a:r>
              <a:rPr sz="2050" spc="170" dirty="0">
                <a:solidFill>
                  <a:srgbClr val="2D64D8"/>
                </a:solidFill>
                <a:latin typeface="Arial"/>
                <a:cs typeface="Arial"/>
              </a:rPr>
              <a:t>Technologies</a:t>
            </a:r>
            <a:endParaRPr sz="2050">
              <a:latin typeface="Arial"/>
              <a:cs typeface="Arial"/>
            </a:endParaRPr>
          </a:p>
          <a:p>
            <a:pPr marL="16510" marR="5080" indent="-3810">
              <a:lnSpc>
                <a:spcPct val="105600"/>
              </a:lnSpc>
              <a:spcBef>
                <a:spcPts val="865"/>
              </a:spcBef>
            </a:pPr>
            <a:r>
              <a:rPr sz="2050" spc="-215" dirty="0">
                <a:solidFill>
                  <a:srgbClr val="4D4D4D"/>
                </a:solidFill>
                <a:latin typeface="Arial"/>
                <a:cs typeface="Arial"/>
              </a:rPr>
              <a:t>HTMLS,</a:t>
            </a:r>
            <a:r>
              <a:rPr sz="2050" spc="7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050" spc="-200" dirty="0">
                <a:solidFill>
                  <a:srgbClr val="484848"/>
                </a:solidFill>
                <a:latin typeface="Arial"/>
                <a:cs typeface="Arial"/>
              </a:rPr>
              <a:t>CSS3,</a:t>
            </a:r>
            <a:r>
              <a:rPr sz="2050" spc="60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2050" spc="-170" dirty="0">
                <a:solidFill>
                  <a:srgbClr val="4D5B66"/>
                </a:solidFill>
                <a:latin typeface="Arial"/>
                <a:cs typeface="Arial"/>
              </a:rPr>
              <a:t>Vanilla</a:t>
            </a:r>
            <a:r>
              <a:rPr sz="2050" spc="25" dirty="0">
                <a:solidFill>
                  <a:srgbClr val="4D5B66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srgbClr val="3D3D3D"/>
                </a:solidFill>
                <a:latin typeface="Arial"/>
                <a:cs typeface="Arial"/>
              </a:rPr>
              <a:t>JavaScript</a:t>
            </a:r>
            <a:r>
              <a:rPr sz="2050" spc="-5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2050" spc="-35" dirty="0">
                <a:solidFill>
                  <a:srgbClr val="3F3F3F"/>
                </a:solidFill>
                <a:latin typeface="Arial"/>
                <a:cs typeface="Arial"/>
              </a:rPr>
              <a:t>for</a:t>
            </a:r>
            <a:r>
              <a:rPr sz="2050" spc="-8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2050" spc="-105" dirty="0">
                <a:solidFill>
                  <a:srgbClr val="3D3D3D"/>
                </a:solidFill>
                <a:latin typeface="Arial"/>
                <a:cs typeface="Arial"/>
              </a:rPr>
              <a:t>client-</a:t>
            </a:r>
            <a:r>
              <a:rPr sz="2050" spc="-60" dirty="0">
                <a:solidFill>
                  <a:srgbClr val="3D3D3D"/>
                </a:solidFill>
                <a:latin typeface="Arial"/>
                <a:cs typeface="Arial"/>
              </a:rPr>
              <a:t>side</a:t>
            </a:r>
            <a:r>
              <a:rPr sz="2050" spc="4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2050" spc="-80" dirty="0">
                <a:solidFill>
                  <a:srgbClr val="4D4D4D"/>
                </a:solidFill>
                <a:latin typeface="Arial"/>
                <a:cs typeface="Arial"/>
              </a:rPr>
              <a:t>validation </a:t>
            </a:r>
            <a:r>
              <a:rPr sz="2050" spc="-175" dirty="0">
                <a:solidFill>
                  <a:srgbClr val="798C95"/>
                </a:solidFill>
                <a:latin typeface="Arial"/>
                <a:cs typeface="Arial"/>
              </a:rPr>
              <a:t>and</a:t>
            </a:r>
            <a:r>
              <a:rPr sz="2050" spc="20" dirty="0">
                <a:solidFill>
                  <a:srgbClr val="798C95"/>
                </a:solidFill>
                <a:latin typeface="Arial"/>
                <a:cs typeface="Arial"/>
              </a:rPr>
              <a:t> </a:t>
            </a:r>
            <a:r>
              <a:rPr sz="2050" spc="-125" dirty="0">
                <a:solidFill>
                  <a:srgbClr val="494949"/>
                </a:solidFill>
                <a:latin typeface="Arial"/>
                <a:cs typeface="Arial"/>
              </a:rPr>
              <a:t>responsive</a:t>
            </a:r>
            <a:r>
              <a:rPr sz="2050" spc="-2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2050" spc="-125" dirty="0">
                <a:solidFill>
                  <a:srgbClr val="464646"/>
                </a:solidFill>
                <a:latin typeface="Arial"/>
                <a:cs typeface="Arial"/>
              </a:rPr>
              <a:t>dashboard</a:t>
            </a:r>
            <a:r>
              <a:rPr sz="2050" spc="3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424242"/>
                </a:solidFill>
                <a:latin typeface="Arial"/>
                <a:cs typeface="Arial"/>
              </a:rPr>
              <a:t>rendering.</a:t>
            </a:r>
            <a:endParaRPr sz="2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396084" y="4918310"/>
            <a:ext cx="5566410" cy="12960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50" spc="-50" dirty="0">
                <a:solidFill>
                  <a:srgbClr val="1C5DFB"/>
                </a:solidFill>
                <a:latin typeface="Arial"/>
                <a:cs typeface="Arial"/>
              </a:rPr>
              <a:t>Backend</a:t>
            </a:r>
            <a:r>
              <a:rPr sz="2450" spc="-105" dirty="0">
                <a:solidFill>
                  <a:srgbClr val="1C5DFB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2869F9"/>
                </a:solidFill>
                <a:latin typeface="Arial"/>
                <a:cs typeface="Arial"/>
              </a:rPr>
              <a:t>Runtime</a:t>
            </a:r>
            <a:endParaRPr sz="2450">
              <a:latin typeface="Arial"/>
              <a:cs typeface="Arial"/>
            </a:endParaRPr>
          </a:p>
          <a:p>
            <a:pPr marL="19050" marR="5080" indent="-4445">
              <a:lnSpc>
                <a:spcPct val="105600"/>
              </a:lnSpc>
              <a:spcBef>
                <a:spcPts val="785"/>
              </a:spcBef>
            </a:pPr>
            <a:r>
              <a:rPr sz="2050" spc="-120" dirty="0">
                <a:solidFill>
                  <a:srgbClr val="464646"/>
                </a:solidFill>
                <a:latin typeface="Arial"/>
                <a:cs typeface="Arial"/>
              </a:rPr>
              <a:t>Node.js</a:t>
            </a:r>
            <a:r>
              <a:rPr sz="2050" spc="-35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050" spc="-110" dirty="0">
                <a:solidFill>
                  <a:srgbClr val="424242"/>
                </a:solidFill>
                <a:latin typeface="Arial"/>
                <a:cs typeface="Arial"/>
              </a:rPr>
              <a:t>with</a:t>
            </a:r>
            <a:r>
              <a:rPr sz="2050" spc="-3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050" spc="-150" dirty="0">
                <a:solidFill>
                  <a:srgbClr val="424242"/>
                </a:solidFill>
                <a:latin typeface="Arial"/>
                <a:cs typeface="Arial"/>
              </a:rPr>
              <a:t>Express.js</a:t>
            </a:r>
            <a:r>
              <a:rPr sz="2050" spc="12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2050" spc="-345" dirty="0">
                <a:solidFill>
                  <a:srgbClr val="3B3B3B"/>
                </a:solidFill>
                <a:latin typeface="Arial"/>
                <a:cs typeface="Arial"/>
              </a:rPr>
              <a:t>REST</a:t>
            </a:r>
            <a:r>
              <a:rPr sz="2050" spc="175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2050" spc="-215" dirty="0">
                <a:solidFill>
                  <a:srgbClr val="464646"/>
                </a:solidFill>
                <a:latin typeface="Arial"/>
                <a:cs typeface="Arial"/>
              </a:rPr>
              <a:t>API</a:t>
            </a:r>
            <a:r>
              <a:rPr sz="2050" spc="6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050" spc="-120" dirty="0">
                <a:solidFill>
                  <a:srgbClr val="444444"/>
                </a:solidFill>
                <a:latin typeface="Arial"/>
                <a:cs typeface="Arial"/>
              </a:rPr>
              <a:t>endpoints</a:t>
            </a:r>
            <a:r>
              <a:rPr sz="2050" spc="7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050" spc="-125" dirty="0">
                <a:solidFill>
                  <a:srgbClr val="484848"/>
                </a:solidFill>
                <a:latin typeface="Arial"/>
                <a:cs typeface="Arial"/>
              </a:rPr>
              <a:t>managing </a:t>
            </a:r>
            <a:r>
              <a:rPr sz="2050" spc="-135" dirty="0">
                <a:solidFill>
                  <a:srgbClr val="464646"/>
                </a:solidFill>
                <a:latin typeface="Arial"/>
                <a:cs typeface="Arial"/>
              </a:rPr>
              <a:t>server</a:t>
            </a:r>
            <a:r>
              <a:rPr sz="2050" spc="-10" dirty="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sz="2050" spc="-105" dirty="0">
                <a:solidFill>
                  <a:srgbClr val="444444"/>
                </a:solidFill>
                <a:latin typeface="Arial"/>
                <a:cs typeface="Arial"/>
              </a:rPr>
              <a:t>requests</a:t>
            </a:r>
            <a:r>
              <a:rPr sz="2050" spc="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2050" spc="-140" dirty="0">
                <a:solidFill>
                  <a:srgbClr val="828EB1"/>
                </a:solidFill>
                <a:latin typeface="Arial"/>
                <a:cs typeface="Arial"/>
              </a:rPr>
              <a:t>and</a:t>
            </a:r>
            <a:r>
              <a:rPr sz="2050" dirty="0">
                <a:solidFill>
                  <a:srgbClr val="828EB1"/>
                </a:solidFill>
                <a:latin typeface="Arial"/>
                <a:cs typeface="Arial"/>
              </a:rPr>
              <a:t> </a:t>
            </a:r>
            <a:r>
              <a:rPr sz="2050" spc="-170" dirty="0">
                <a:solidFill>
                  <a:srgbClr val="494949"/>
                </a:solidFill>
                <a:latin typeface="Arial"/>
                <a:cs typeface="Arial"/>
              </a:rPr>
              <a:t>session</a:t>
            </a:r>
            <a:r>
              <a:rPr sz="2050" spc="2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484848"/>
                </a:solidFill>
                <a:latin typeface="Arial"/>
                <a:cs typeface="Arial"/>
              </a:rPr>
              <a:t>status.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251995" y="975489"/>
            <a:ext cx="3105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2659EB"/>
                </a:solidFill>
                <a:latin typeface="Arial"/>
                <a:cs typeface="Arial"/>
              </a:rPr>
              <a:t>AP</a:t>
            </a:r>
            <a:r>
              <a:rPr sz="1800" spc="-310" dirty="0">
                <a:solidFill>
                  <a:srgbClr val="2659EB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3460F4"/>
                </a:solidFill>
                <a:latin typeface="Arial"/>
                <a:cs typeface="Arial"/>
              </a:rPr>
              <a:t>PLI</a:t>
            </a:r>
            <a:r>
              <a:rPr sz="1800" spc="80" dirty="0">
                <a:solidFill>
                  <a:srgbClr val="215DDF"/>
                </a:solidFill>
                <a:latin typeface="Arial"/>
                <a:cs typeface="Arial"/>
              </a:rPr>
              <a:t>CAT</a:t>
            </a:r>
            <a:r>
              <a:rPr sz="1800" spc="80" dirty="0">
                <a:solidFill>
                  <a:srgbClr val="3167DD"/>
                </a:solidFill>
                <a:latin typeface="Arial"/>
                <a:cs typeface="Arial"/>
              </a:rPr>
              <a:t>I</a:t>
            </a:r>
            <a:r>
              <a:rPr sz="1800" spc="-250" dirty="0">
                <a:solidFill>
                  <a:srgbClr val="3167DD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4FE9"/>
                </a:solidFill>
                <a:latin typeface="Arial"/>
                <a:cs typeface="Arial"/>
              </a:rPr>
              <a:t>ON</a:t>
            </a:r>
            <a:r>
              <a:rPr sz="1800" spc="235" dirty="0">
                <a:solidFill>
                  <a:srgbClr val="1F4FE9"/>
                </a:solidFill>
                <a:latin typeface="Arial"/>
                <a:cs typeface="Arial"/>
              </a:rPr>
              <a:t> </a:t>
            </a:r>
            <a:r>
              <a:rPr sz="1800" spc="114" dirty="0">
                <a:solidFill>
                  <a:srgbClr val="345BE4"/>
                </a:solidFill>
                <a:latin typeface="Arial"/>
                <a:cs typeface="Arial"/>
              </a:rPr>
              <a:t>I</a:t>
            </a:r>
            <a:r>
              <a:rPr sz="1800" spc="114" dirty="0">
                <a:solidFill>
                  <a:srgbClr val="1D74D8"/>
                </a:solidFill>
                <a:latin typeface="Arial"/>
                <a:cs typeface="Arial"/>
              </a:rPr>
              <a:t>N</a:t>
            </a:r>
            <a:r>
              <a:rPr sz="1800" spc="-310" dirty="0">
                <a:solidFill>
                  <a:srgbClr val="1D74D8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2D5DDB"/>
                </a:solidFill>
                <a:latin typeface="Arial"/>
                <a:cs typeface="Arial"/>
              </a:rPr>
              <a:t>TE</a:t>
            </a:r>
            <a:r>
              <a:rPr sz="1800" spc="-245" dirty="0">
                <a:solidFill>
                  <a:srgbClr val="2D5DDB"/>
                </a:solidFill>
                <a:latin typeface="Arial"/>
                <a:cs typeface="Arial"/>
              </a:rPr>
              <a:t> </a:t>
            </a:r>
            <a:r>
              <a:rPr sz="1800" spc="-260" dirty="0">
                <a:solidFill>
                  <a:srgbClr val="1866ED"/>
                </a:solidFill>
                <a:latin typeface="Arial"/>
                <a:cs typeface="Arial"/>
              </a:rPr>
              <a:t>R</a:t>
            </a:r>
            <a:r>
              <a:rPr sz="1800" spc="-240" dirty="0">
                <a:solidFill>
                  <a:srgbClr val="1866ED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2D62D8"/>
                </a:solidFill>
                <a:latin typeface="Arial"/>
                <a:cs typeface="Arial"/>
              </a:rPr>
              <a:t>FACE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4350" spc="315" dirty="0"/>
              <a:t>System</a:t>
            </a:r>
            <a:r>
              <a:rPr sz="4350" spc="-125" dirty="0"/>
              <a:t> </a:t>
            </a:r>
            <a:r>
              <a:rPr sz="4350" spc="204" dirty="0">
                <a:solidFill>
                  <a:srgbClr val="0F0F0F"/>
                </a:solidFill>
              </a:rPr>
              <a:t>Execution</a:t>
            </a:r>
            <a:r>
              <a:rPr sz="4350" spc="40" dirty="0">
                <a:solidFill>
                  <a:srgbClr val="0F0F0F"/>
                </a:solidFill>
              </a:rPr>
              <a:t> </a:t>
            </a:r>
            <a:r>
              <a:rPr sz="4350" spc="275" dirty="0">
                <a:solidFill>
                  <a:srgbClr val="151515"/>
                </a:solidFill>
              </a:rPr>
              <a:t>Screens</a:t>
            </a:r>
            <a:endParaRPr sz="43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2901" y="5669984"/>
            <a:ext cx="361245" cy="3612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3944" y="5669984"/>
            <a:ext cx="345539" cy="3612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7867" y="5669984"/>
            <a:ext cx="392658" cy="3612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44616" y="5669984"/>
            <a:ext cx="361245" cy="36124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78540" y="5669984"/>
            <a:ext cx="408364" cy="36124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94546" y="6487756"/>
            <a:ext cx="181356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-10" dirty="0">
                <a:solidFill>
                  <a:srgbClr val="1F1F1F"/>
                </a:solidFill>
                <a:latin typeface="Arial"/>
                <a:cs typeface="Arial"/>
              </a:rPr>
              <a:t>1.</a:t>
            </a:r>
            <a:r>
              <a:rPr sz="1900" spc="4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32323"/>
                </a:solidFill>
                <a:latin typeface="Arial"/>
                <a:cs typeface="Arial"/>
              </a:rPr>
              <a:t>Landing </a:t>
            </a:r>
            <a:r>
              <a:rPr sz="1900" spc="-20" dirty="0">
                <a:solidFill>
                  <a:srgbClr val="262626"/>
                </a:solidFill>
                <a:latin typeface="Arial"/>
                <a:cs typeface="Arial"/>
              </a:rPr>
              <a:t>Page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2723" y="6965756"/>
            <a:ext cx="2481599" cy="1649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585816" y="6306717"/>
            <a:ext cx="1799589" cy="83375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46685">
              <a:lnSpc>
                <a:spcPct val="100000"/>
              </a:lnSpc>
              <a:spcBef>
                <a:spcPts val="1405"/>
              </a:spcBef>
            </a:pPr>
            <a:r>
              <a:rPr sz="2050" dirty="0">
                <a:solidFill>
                  <a:srgbClr val="1A1A1A"/>
                </a:solidFill>
                <a:latin typeface="Arial"/>
                <a:cs typeface="Arial"/>
              </a:rPr>
              <a:t>2.</a:t>
            </a:r>
            <a:r>
              <a:rPr sz="2050" spc="-9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1D1D1D"/>
                </a:solidFill>
                <a:latin typeface="Arial"/>
                <a:cs typeface="Arial"/>
              </a:rPr>
              <a:t>Voter</a:t>
            </a:r>
            <a:r>
              <a:rPr sz="2050" spc="-3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212121"/>
                </a:solidFill>
                <a:latin typeface="Arial"/>
                <a:cs typeface="Arial"/>
              </a:rPr>
              <a:t>Auth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400" dirty="0">
                <a:solidFill>
                  <a:srgbClr val="696969"/>
                </a:solidFill>
                <a:latin typeface="Arial"/>
                <a:cs typeface="Arial"/>
              </a:rPr>
              <a:t>Voter</a:t>
            </a:r>
            <a:r>
              <a:rPr sz="1400" spc="16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8C8C8C"/>
                </a:solidFill>
                <a:latin typeface="Arial"/>
                <a:cs typeface="Arial"/>
              </a:rPr>
              <a:t>ID</a:t>
            </a:r>
            <a:r>
              <a:rPr sz="1400" spc="114" dirty="0">
                <a:solidFill>
                  <a:srgbClr val="8C8C8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27C8A"/>
                </a:solidFill>
                <a:latin typeface="Arial"/>
                <a:cs typeface="Arial"/>
              </a:rPr>
              <a:t>&amp;</a:t>
            </a:r>
            <a:r>
              <a:rPr sz="1400" spc="160" dirty="0">
                <a:solidFill>
                  <a:srgbClr val="727C8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57575"/>
                </a:solidFill>
                <a:latin typeface="Arial"/>
                <a:cs typeface="Arial"/>
              </a:rPr>
              <a:t>OTP</a:t>
            </a:r>
            <a:r>
              <a:rPr sz="1400" spc="135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7C7C7C"/>
                </a:solidFill>
                <a:latin typeface="Arial"/>
                <a:cs typeface="Arial"/>
              </a:rPr>
              <a:t>login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3274" y="6328909"/>
            <a:ext cx="2633980" cy="811530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900" spc="65" dirty="0">
                <a:solidFill>
                  <a:srgbClr val="1A1A1A"/>
                </a:solidFill>
                <a:latin typeface="Arial"/>
                <a:cs typeface="Arial"/>
              </a:rPr>
              <a:t>3.</a:t>
            </a:r>
            <a:r>
              <a:rPr sz="1900" spc="180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1F1F1F"/>
                </a:solidFill>
                <a:latin typeface="Arial"/>
                <a:cs typeface="Arial"/>
              </a:rPr>
              <a:t>Candidate</a:t>
            </a:r>
            <a:r>
              <a:rPr sz="1900" spc="37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900" spc="45" dirty="0">
                <a:solidFill>
                  <a:srgbClr val="1A1A1A"/>
                </a:solidFill>
                <a:latin typeface="Arial"/>
                <a:cs typeface="Arial"/>
              </a:rPr>
              <a:t>Selection</a:t>
            </a:r>
            <a:endParaRPr sz="1900">
              <a:latin typeface="Arial"/>
              <a:cs typeface="Arial"/>
            </a:endParaRPr>
          </a:p>
          <a:p>
            <a:pPr marL="44577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solidFill>
                  <a:srgbClr val="757575"/>
                </a:solidFill>
                <a:latin typeface="Arial"/>
                <a:cs typeface="Arial"/>
              </a:rPr>
              <a:t>C</a:t>
            </a:r>
            <a:r>
              <a:rPr sz="1400" dirty="0">
                <a:solidFill>
                  <a:srgbClr val="6B6B6B"/>
                </a:solidFill>
                <a:latin typeface="Arial"/>
                <a:cs typeface="Arial"/>
              </a:rPr>
              <a:t>a</a:t>
            </a:r>
            <a:r>
              <a:rPr sz="1400" spc="-21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66666"/>
                </a:solidFill>
                <a:latin typeface="Arial"/>
                <a:cs typeface="Arial"/>
              </a:rPr>
              <a:t>st</a:t>
            </a:r>
            <a:r>
              <a:rPr sz="1400" spc="114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76767"/>
                </a:solidFill>
                <a:latin typeface="Arial"/>
                <a:cs typeface="Arial"/>
              </a:rPr>
              <a:t>ballot</a:t>
            </a:r>
            <a:r>
              <a:rPr sz="1400" spc="204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6E6E6E"/>
                </a:solidFill>
                <a:latin typeface="Arial"/>
                <a:cs typeface="Arial"/>
              </a:rPr>
              <a:t>se</a:t>
            </a:r>
            <a:r>
              <a:rPr sz="1400" spc="-22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6D6D6D"/>
                </a:solidFill>
                <a:latin typeface="Arial"/>
                <a:cs typeface="Arial"/>
              </a:rPr>
              <a:t>c</a:t>
            </a:r>
            <a:r>
              <a:rPr sz="1400" spc="-229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D5D5D"/>
                </a:solidFill>
                <a:latin typeface="Arial"/>
                <a:cs typeface="Arial"/>
              </a:rPr>
              <a:t>ur</a:t>
            </a:r>
            <a:r>
              <a:rPr sz="1400" spc="-145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96969"/>
                </a:solidFill>
                <a:latin typeface="Arial"/>
                <a:cs typeface="Arial"/>
              </a:rPr>
              <a:t>ely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54802" y="6306717"/>
            <a:ext cx="2313940" cy="83375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050" dirty="0">
                <a:solidFill>
                  <a:srgbClr val="1A1A1A"/>
                </a:solidFill>
                <a:latin typeface="Arial"/>
                <a:cs typeface="Arial"/>
              </a:rPr>
              <a:t>4.</a:t>
            </a:r>
            <a:r>
              <a:rPr sz="2050" spc="-14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050" spc="-30" dirty="0">
                <a:solidFill>
                  <a:srgbClr val="131313"/>
                </a:solidFill>
                <a:latin typeface="Arial"/>
                <a:cs typeface="Arial"/>
              </a:rPr>
              <a:t>Result</a:t>
            </a:r>
            <a:r>
              <a:rPr sz="2050" spc="-65" dirty="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050" spc="-30" dirty="0">
                <a:solidFill>
                  <a:srgbClr val="212121"/>
                </a:solidFill>
                <a:latin typeface="Arial"/>
                <a:cs typeface="Arial"/>
              </a:rPr>
              <a:t>Dashboard</a:t>
            </a:r>
            <a:endParaRPr sz="205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910"/>
              </a:spcBef>
            </a:pPr>
            <a:r>
              <a:rPr sz="1400" spc="50" dirty="0">
                <a:solidFill>
                  <a:srgbClr val="646464"/>
                </a:solidFill>
                <a:latin typeface="Arial"/>
                <a:cs typeface="Arial"/>
              </a:rPr>
              <a:t>L</a:t>
            </a:r>
            <a:r>
              <a:rPr sz="1400" spc="50" dirty="0">
                <a:solidFill>
                  <a:srgbClr val="696969"/>
                </a:solidFill>
                <a:latin typeface="Arial"/>
                <a:cs typeface="Arial"/>
              </a:rPr>
              <a:t>iv</a:t>
            </a:r>
            <a:r>
              <a:rPr sz="1400" spc="-19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07070"/>
                </a:solidFill>
                <a:latin typeface="Arial"/>
                <a:cs typeface="Arial"/>
              </a:rPr>
              <a:t>e</a:t>
            </a:r>
            <a:r>
              <a:rPr sz="1400" spc="150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07070"/>
                </a:solidFill>
                <a:latin typeface="Arial"/>
                <a:cs typeface="Arial"/>
              </a:rPr>
              <a:t>ele</a:t>
            </a:r>
            <a:r>
              <a:rPr sz="1400" spc="-220" dirty="0">
                <a:solidFill>
                  <a:srgbClr val="707070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E6E6E"/>
                </a:solidFill>
                <a:latin typeface="Arial"/>
                <a:cs typeface="Arial"/>
              </a:rPr>
              <a:t>ction</a:t>
            </a:r>
            <a:r>
              <a:rPr sz="1400" spc="13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400" spc="-155" dirty="0">
                <a:solidFill>
                  <a:srgbClr val="9095AE"/>
                </a:solidFill>
                <a:latin typeface="Arial"/>
                <a:cs typeface="Arial"/>
              </a:rPr>
              <a:t>a</a:t>
            </a:r>
            <a:r>
              <a:rPr sz="1400" spc="-200" dirty="0">
                <a:solidFill>
                  <a:srgbClr val="9095AE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77798C"/>
                </a:solidFill>
                <a:latin typeface="Arial"/>
                <a:cs typeface="Arial"/>
              </a:rPr>
              <a:t>n</a:t>
            </a:r>
            <a:r>
              <a:rPr sz="1400" spc="70" dirty="0">
                <a:solidFill>
                  <a:srgbClr val="646464"/>
                </a:solidFill>
                <a:latin typeface="Arial"/>
                <a:cs typeface="Arial"/>
              </a:rPr>
              <a:t>alytic</a:t>
            </a:r>
            <a:r>
              <a:rPr sz="1400" spc="-135" dirty="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46464"/>
                </a:solidFill>
                <a:latin typeface="Arial"/>
                <a:cs typeface="Arial"/>
              </a:rPr>
              <a:t>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48159" y="6362597"/>
            <a:ext cx="2277110" cy="101663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115"/>
              </a:spcBef>
            </a:pPr>
            <a:r>
              <a:rPr sz="1900" dirty="0">
                <a:solidFill>
                  <a:srgbClr val="1F1F1F"/>
                </a:solidFill>
                <a:latin typeface="Arial"/>
                <a:cs typeface="Arial"/>
              </a:rPr>
              <a:t>5.</a:t>
            </a:r>
            <a:r>
              <a:rPr sz="1900" spc="9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1F1F1F"/>
                </a:solidFill>
                <a:latin typeface="Arial"/>
                <a:cs typeface="Arial"/>
              </a:rPr>
              <a:t>Admin</a:t>
            </a:r>
            <a:r>
              <a:rPr sz="1900" spc="1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1900" spc="50" dirty="0">
                <a:solidFill>
                  <a:srgbClr val="1D1D1D"/>
                </a:solidFill>
                <a:latin typeface="Arial"/>
                <a:cs typeface="Arial"/>
              </a:rPr>
              <a:t>Portal</a:t>
            </a:r>
            <a:endParaRPr sz="1900">
              <a:latin typeface="Arial"/>
              <a:cs typeface="Arial"/>
            </a:endParaRPr>
          </a:p>
          <a:p>
            <a:pPr marL="768350" marR="5080" indent="-756285">
              <a:lnSpc>
                <a:spcPct val="100000"/>
              </a:lnSpc>
              <a:spcBef>
                <a:spcPts val="790"/>
              </a:spcBef>
            </a:pPr>
            <a:r>
              <a:rPr sz="1550" spc="-35" dirty="0">
                <a:solidFill>
                  <a:srgbClr val="6B6B6B"/>
                </a:solidFill>
                <a:latin typeface="Arial"/>
                <a:cs typeface="Arial"/>
              </a:rPr>
              <a:t>M</a:t>
            </a:r>
            <a:r>
              <a:rPr sz="1550" spc="-275" dirty="0">
                <a:solidFill>
                  <a:srgbClr val="6B6B6B"/>
                </a:solidFill>
                <a:latin typeface="Arial"/>
                <a:cs typeface="Arial"/>
              </a:rPr>
              <a:t> </a:t>
            </a:r>
            <a:r>
              <a:rPr sz="1550" spc="-95" dirty="0">
                <a:solidFill>
                  <a:srgbClr val="6E6E6E"/>
                </a:solidFill>
                <a:latin typeface="Arial"/>
                <a:cs typeface="Arial"/>
              </a:rPr>
              <a:t>ana</a:t>
            </a:r>
            <a:r>
              <a:rPr sz="1550" spc="-17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6E6E6E"/>
                </a:solidFill>
                <a:latin typeface="Arial"/>
                <a:cs typeface="Arial"/>
              </a:rPr>
              <a:t>ge</a:t>
            </a:r>
            <a:r>
              <a:rPr sz="1550" spc="-6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676767"/>
                </a:solidFill>
                <a:latin typeface="Arial"/>
                <a:cs typeface="Arial"/>
              </a:rPr>
              <a:t>voters</a:t>
            </a:r>
            <a:r>
              <a:rPr sz="1550" spc="30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7E8997"/>
                </a:solidFill>
                <a:latin typeface="Arial"/>
                <a:cs typeface="Arial"/>
              </a:rPr>
              <a:t>&amp;</a:t>
            </a:r>
            <a:r>
              <a:rPr sz="1550" spc="90" dirty="0">
                <a:solidFill>
                  <a:srgbClr val="7E8997"/>
                </a:solidFill>
                <a:latin typeface="Arial"/>
                <a:cs typeface="Arial"/>
              </a:rPr>
              <a:t> </a:t>
            </a:r>
            <a:r>
              <a:rPr sz="1550" spc="-45" dirty="0">
                <a:solidFill>
                  <a:srgbClr val="6E6E6E"/>
                </a:solidFill>
                <a:latin typeface="Arial"/>
                <a:cs typeface="Arial"/>
              </a:rPr>
              <a:t>elec</a:t>
            </a:r>
            <a:r>
              <a:rPr sz="1550" spc="-220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6B6B6B"/>
                </a:solidFill>
                <a:latin typeface="Arial"/>
                <a:cs typeface="Arial"/>
              </a:rPr>
              <a:t>tion </a:t>
            </a:r>
            <a:r>
              <a:rPr sz="1550" dirty="0">
                <a:solidFill>
                  <a:srgbClr val="676767"/>
                </a:solidFill>
                <a:latin typeface="Arial"/>
                <a:cs typeface="Arial"/>
              </a:rPr>
              <a:t>lifec</a:t>
            </a:r>
            <a:r>
              <a:rPr sz="1550" spc="-229" dirty="0">
                <a:solidFill>
                  <a:srgbClr val="676767"/>
                </a:solidFill>
                <a:latin typeface="Arial"/>
                <a:cs typeface="Arial"/>
              </a:rPr>
              <a:t> </a:t>
            </a:r>
            <a:r>
              <a:rPr sz="1550" spc="-85" dirty="0">
                <a:solidFill>
                  <a:srgbClr val="626262"/>
                </a:solidFill>
                <a:latin typeface="Arial"/>
                <a:cs typeface="Arial"/>
              </a:rPr>
              <a:t>y</a:t>
            </a:r>
            <a:r>
              <a:rPr sz="1550" spc="-240" dirty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6B6B6B"/>
                </a:solidFill>
                <a:latin typeface="Arial"/>
                <a:cs typeface="Arial"/>
              </a:rPr>
              <a:t>c</a:t>
            </a:r>
            <a:r>
              <a:rPr sz="1550" spc="-25" dirty="0">
                <a:solidFill>
                  <a:srgbClr val="727272"/>
                </a:solidFill>
                <a:latin typeface="Arial"/>
                <a:cs typeface="Arial"/>
              </a:rPr>
              <a:t>Ie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276" y="975489"/>
            <a:ext cx="16243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80" dirty="0">
                <a:solidFill>
                  <a:srgbClr val="1367ED"/>
                </a:solidFill>
                <a:latin typeface="Calibri"/>
                <a:cs typeface="Calibri"/>
              </a:rPr>
              <a:t>EVAL</a:t>
            </a:r>
            <a:r>
              <a:rPr sz="1800" spc="-180" dirty="0">
                <a:solidFill>
                  <a:srgbClr val="1367ED"/>
                </a:solidFill>
                <a:latin typeface="Calibri"/>
                <a:cs typeface="Calibri"/>
              </a:rPr>
              <a:t> </a:t>
            </a:r>
            <a:r>
              <a:rPr sz="1800" spc="254" dirty="0">
                <a:solidFill>
                  <a:srgbClr val="3862CD"/>
                </a:solidFill>
                <a:latin typeface="Calibri"/>
                <a:cs typeface="Calibri"/>
              </a:rPr>
              <a:t>UATIO</a:t>
            </a:r>
            <a:r>
              <a:rPr sz="1800" spc="254" dirty="0">
                <a:solidFill>
                  <a:srgbClr val="215BF7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pc="175" dirty="0">
                <a:solidFill>
                  <a:srgbClr val="131313"/>
                </a:solidFill>
              </a:rPr>
              <a:t>System</a:t>
            </a:r>
            <a:r>
              <a:rPr spc="10" dirty="0">
                <a:solidFill>
                  <a:srgbClr val="131313"/>
                </a:solidFill>
              </a:rPr>
              <a:t> </a:t>
            </a:r>
            <a:r>
              <a:rPr spc="225" dirty="0">
                <a:solidFill>
                  <a:srgbClr val="1A1A1A"/>
                </a:solidFill>
              </a:rPr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54918" y="2973465"/>
            <a:ext cx="6560184" cy="2691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1AA04F"/>
                </a:solidFill>
                <a:latin typeface="Arial"/>
                <a:cs typeface="Arial"/>
              </a:rPr>
              <a:t>zb</a:t>
            </a:r>
            <a:r>
              <a:rPr sz="2700" spc="200" dirty="0">
                <a:solidFill>
                  <a:srgbClr val="1AA04F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0C9346"/>
                </a:solidFill>
                <a:latin typeface="Arial"/>
                <a:cs typeface="Arial"/>
              </a:rPr>
              <a:t>System</a:t>
            </a:r>
            <a:r>
              <a:rPr sz="2700" spc="-120" dirty="0">
                <a:solidFill>
                  <a:srgbClr val="0C9346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219E5B"/>
                </a:solidFill>
                <a:latin typeface="Arial"/>
                <a:cs typeface="Arial"/>
              </a:rPr>
              <a:t>Advantages</a:t>
            </a:r>
            <a:endParaRPr sz="2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  <a:tabLst>
                <a:tab pos="404495" algn="l"/>
                <a:tab pos="2226310" algn="l"/>
              </a:tabLst>
            </a:pPr>
            <a:r>
              <a:rPr sz="2200" spc="75" dirty="0">
                <a:solidFill>
                  <a:srgbClr val="156D42"/>
                </a:solidFill>
                <a:latin typeface="Calibri"/>
                <a:cs typeface="Calibri"/>
              </a:rPr>
              <a:t>w</a:t>
            </a:r>
            <a:r>
              <a:rPr sz="2200" dirty="0">
                <a:solidFill>
                  <a:srgbClr val="156D42"/>
                </a:solidFill>
                <a:latin typeface="Calibri"/>
                <a:cs typeface="Calibri"/>
              </a:rPr>
              <a:t>	</a:t>
            </a:r>
            <a:r>
              <a:rPr sz="2200" dirty="0">
                <a:solidFill>
                  <a:srgbClr val="1F5D48"/>
                </a:solidFill>
                <a:latin typeface="Calibri"/>
                <a:cs typeface="Calibri"/>
              </a:rPr>
              <a:t>High</a:t>
            </a:r>
            <a:r>
              <a:rPr sz="2200" spc="20" dirty="0">
                <a:solidFill>
                  <a:srgbClr val="1F5D4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C5E34"/>
                </a:solidFill>
                <a:latin typeface="Calibri"/>
                <a:cs typeface="Calibri"/>
              </a:rPr>
              <a:t>Security:</a:t>
            </a:r>
            <a:r>
              <a:rPr sz="2200" dirty="0">
                <a:solidFill>
                  <a:srgbClr val="0C5E34"/>
                </a:solidFill>
                <a:latin typeface="Calibri"/>
                <a:cs typeface="Calibri"/>
              </a:rPr>
              <a:t>	</a:t>
            </a:r>
            <a:r>
              <a:rPr sz="2200" spc="-20" dirty="0">
                <a:solidFill>
                  <a:srgbClr val="21663F"/>
                </a:solidFill>
                <a:latin typeface="Calibri"/>
                <a:cs typeface="Calibri"/>
              </a:rPr>
              <a:t>Encryption</a:t>
            </a:r>
            <a:r>
              <a:rPr sz="2200" spc="55" dirty="0">
                <a:solidFill>
                  <a:srgbClr val="21663F"/>
                </a:solidFill>
                <a:latin typeface="Calibri"/>
                <a:cs typeface="Calibri"/>
              </a:rPr>
              <a:t> </a:t>
            </a:r>
            <a:r>
              <a:rPr sz="2200" spc="-240" dirty="0">
                <a:solidFill>
                  <a:srgbClr val="1F694B"/>
                </a:solidFill>
                <a:latin typeface="Calibri"/>
                <a:cs typeface="Calibri"/>
              </a:rPr>
              <a:t>&amp;</a:t>
            </a:r>
            <a:r>
              <a:rPr sz="2200" spc="35" dirty="0">
                <a:solidFill>
                  <a:srgbClr val="1F694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65438"/>
                </a:solidFill>
                <a:latin typeface="Calibri"/>
                <a:cs typeface="Calibri"/>
              </a:rPr>
              <a:t>OTP</a:t>
            </a:r>
            <a:r>
              <a:rPr sz="2200" spc="20" dirty="0">
                <a:solidFill>
                  <a:srgbClr val="26543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63636"/>
                </a:solidFill>
                <a:latin typeface="Calibri"/>
                <a:cs typeface="Calibri"/>
              </a:rPr>
              <a:t>authentication</a:t>
            </a:r>
            <a:endParaRPr sz="22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1985"/>
              </a:spcBef>
              <a:tabLst>
                <a:tab pos="407670" algn="l"/>
                <a:tab pos="2509520" algn="l"/>
              </a:tabLst>
            </a:pPr>
            <a:r>
              <a:rPr sz="1900" spc="-50" dirty="0">
                <a:solidFill>
                  <a:srgbClr val="2A623F"/>
                </a:solidFill>
                <a:latin typeface="Arial"/>
                <a:cs typeface="Arial"/>
              </a:rPr>
              <a:t>w</a:t>
            </a:r>
            <a:r>
              <a:rPr sz="1900" dirty="0">
                <a:solidFill>
                  <a:srgbClr val="2A623F"/>
                </a:solidFill>
                <a:latin typeface="Arial"/>
                <a:cs typeface="Arial"/>
              </a:rPr>
              <a:t>	</a:t>
            </a:r>
            <a:r>
              <a:rPr sz="1900" dirty="0">
                <a:solidFill>
                  <a:srgbClr val="1A543F"/>
                </a:solidFill>
                <a:latin typeface="Arial"/>
                <a:cs typeface="Arial"/>
              </a:rPr>
              <a:t>Fast</a:t>
            </a:r>
            <a:r>
              <a:rPr sz="1900" spc="195" dirty="0">
                <a:solidFill>
                  <a:srgbClr val="1A543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85D3D"/>
                </a:solidFill>
                <a:latin typeface="Arial"/>
                <a:cs typeface="Arial"/>
              </a:rPr>
              <a:t>Processing:</a:t>
            </a:r>
            <a:r>
              <a:rPr sz="1900" dirty="0">
                <a:solidFill>
                  <a:srgbClr val="085D3D"/>
                </a:solidFill>
                <a:latin typeface="Arial"/>
                <a:cs typeface="Arial"/>
              </a:rPr>
              <a:t>	</a:t>
            </a:r>
            <a:r>
              <a:rPr sz="1900" dirty="0">
                <a:solidFill>
                  <a:srgbClr val="3A3A3A"/>
                </a:solidFill>
                <a:latin typeface="Arial"/>
                <a:cs typeface="Arial"/>
              </a:rPr>
              <a:t>Instant</a:t>
            </a:r>
            <a:r>
              <a:rPr sz="1900" spc="185" dirty="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15434"/>
                </a:solidFill>
                <a:latin typeface="Arial"/>
                <a:cs typeface="Arial"/>
              </a:rPr>
              <a:t>vote</a:t>
            </a:r>
            <a:r>
              <a:rPr sz="1900" spc="160" dirty="0">
                <a:solidFill>
                  <a:srgbClr val="215434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85C4AF"/>
                </a:solidFill>
                <a:latin typeface="Arial"/>
                <a:cs typeface="Arial"/>
              </a:rPr>
              <a:t>aggregation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  <a:tabLst>
                <a:tab pos="410209" algn="l"/>
                <a:tab pos="1891664" algn="l"/>
              </a:tabLst>
            </a:pPr>
            <a:r>
              <a:rPr sz="2200" spc="75" dirty="0">
                <a:solidFill>
                  <a:srgbClr val="1D663D"/>
                </a:solidFill>
                <a:latin typeface="Calibri"/>
                <a:cs typeface="Calibri"/>
              </a:rPr>
              <a:t>w</a:t>
            </a:r>
            <a:r>
              <a:rPr sz="2200" dirty="0">
                <a:solidFill>
                  <a:srgbClr val="1D663D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135D46"/>
                </a:solidFill>
                <a:latin typeface="Calibri"/>
                <a:cs typeface="Calibri"/>
              </a:rPr>
              <a:t>Scalability:</a:t>
            </a:r>
            <a:r>
              <a:rPr sz="2200" dirty="0">
                <a:solidFill>
                  <a:srgbClr val="135D46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365742"/>
                </a:solidFill>
                <a:latin typeface="Calibri"/>
                <a:cs typeface="Calibri"/>
              </a:rPr>
              <a:t>AWS</a:t>
            </a:r>
            <a:r>
              <a:rPr sz="2200" spc="-80" dirty="0">
                <a:solidFill>
                  <a:srgbClr val="365742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B3B3B"/>
                </a:solidFill>
                <a:latin typeface="Calibri"/>
                <a:cs typeface="Calibri"/>
              </a:rPr>
              <a:t>infrastructure</a:t>
            </a:r>
            <a:r>
              <a:rPr sz="2200" spc="-1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6624F"/>
                </a:solidFill>
                <a:latin typeface="Calibri"/>
                <a:cs typeface="Calibri"/>
              </a:rPr>
              <a:t>handles</a:t>
            </a:r>
            <a:r>
              <a:rPr sz="2200" spc="-65" dirty="0">
                <a:solidFill>
                  <a:srgbClr val="36624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97BFAC"/>
                </a:solidFill>
                <a:latin typeface="Calibri"/>
                <a:cs typeface="Calibri"/>
              </a:rPr>
              <a:t>traffic </a:t>
            </a:r>
            <a:r>
              <a:rPr sz="2200" spc="-10" dirty="0">
                <a:solidFill>
                  <a:srgbClr val="3A3A3A"/>
                </a:solidFill>
                <a:latin typeface="Calibri"/>
                <a:cs typeface="Calibri"/>
              </a:rPr>
              <a:t>surges</a:t>
            </a:r>
            <a:endParaRPr sz="22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1839"/>
              </a:spcBef>
              <a:tabLst>
                <a:tab pos="414655" algn="l"/>
                <a:tab pos="2747645" algn="l"/>
              </a:tabLst>
            </a:pPr>
            <a:r>
              <a:rPr sz="2050" spc="65" dirty="0">
                <a:solidFill>
                  <a:srgbClr val="2A663F"/>
                </a:solidFill>
                <a:latin typeface="Arial"/>
                <a:cs typeface="Arial"/>
              </a:rPr>
              <a:t>w</a:t>
            </a:r>
            <a:r>
              <a:rPr sz="2050" dirty="0">
                <a:solidFill>
                  <a:srgbClr val="2A663F"/>
                </a:solidFill>
                <a:latin typeface="Arial"/>
                <a:cs typeface="Arial"/>
              </a:rPr>
              <a:t>	</a:t>
            </a:r>
            <a:r>
              <a:rPr sz="2050" spc="-20" dirty="0">
                <a:solidFill>
                  <a:srgbClr val="135926"/>
                </a:solidFill>
                <a:latin typeface="Arial"/>
                <a:cs typeface="Arial"/>
              </a:rPr>
              <a:t>Zero</a:t>
            </a:r>
            <a:r>
              <a:rPr sz="2050" spc="-125" dirty="0">
                <a:solidFill>
                  <a:srgbClr val="135926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236646"/>
                </a:solidFill>
                <a:latin typeface="Arial"/>
                <a:cs typeface="Arial"/>
              </a:rPr>
              <a:t>Paper</a:t>
            </a:r>
            <a:r>
              <a:rPr sz="2050" spc="-70" dirty="0">
                <a:solidFill>
                  <a:srgbClr val="236646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086438"/>
                </a:solidFill>
                <a:latin typeface="Arial"/>
                <a:cs typeface="Arial"/>
              </a:rPr>
              <a:t>Waste:</a:t>
            </a:r>
            <a:r>
              <a:rPr sz="2050" dirty="0">
                <a:solidFill>
                  <a:srgbClr val="086438"/>
                </a:solidFill>
                <a:latin typeface="Arial"/>
                <a:cs typeface="Arial"/>
              </a:rPr>
              <a:t>	</a:t>
            </a:r>
            <a:r>
              <a:rPr sz="2050" dirty="0">
                <a:solidFill>
                  <a:srgbClr val="0F622A"/>
                </a:solidFill>
                <a:latin typeface="Arial"/>
                <a:cs typeface="Arial"/>
              </a:rPr>
              <a:t>Eco-friendly</a:t>
            </a:r>
            <a:r>
              <a:rPr sz="2050" spc="15" dirty="0">
                <a:solidFill>
                  <a:srgbClr val="0F622A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9ECAB3"/>
                </a:solidFill>
                <a:latin typeface="Arial"/>
                <a:cs typeface="Arial"/>
              </a:rPr>
              <a:t>digital</a:t>
            </a:r>
            <a:r>
              <a:rPr sz="2050" spc="-45" dirty="0">
                <a:solidFill>
                  <a:srgbClr val="9ECAB3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8AAE97"/>
                </a:solidFill>
                <a:latin typeface="Arial"/>
                <a:cs typeface="Arial"/>
              </a:rPr>
              <a:t>execution</a:t>
            </a:r>
            <a:endParaRPr sz="2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85871" y="2965612"/>
            <a:ext cx="7500620" cy="214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solidFill>
                  <a:srgbClr val="CF790F"/>
                </a:solidFill>
                <a:latin typeface="Arial"/>
                <a:cs typeface="Arial"/>
              </a:rPr>
              <a:t>A</a:t>
            </a:r>
            <a:r>
              <a:rPr sz="2700" spc="120" dirty="0">
                <a:solidFill>
                  <a:srgbClr val="CF790F"/>
                </a:solidFill>
                <a:latin typeface="Arial"/>
                <a:cs typeface="Arial"/>
              </a:rPr>
              <a:t>  </a:t>
            </a:r>
            <a:r>
              <a:rPr sz="2700" dirty="0">
                <a:solidFill>
                  <a:srgbClr val="CC7518"/>
                </a:solidFill>
                <a:latin typeface="Arial"/>
                <a:cs typeface="Arial"/>
              </a:rPr>
              <a:t>Limitations</a:t>
            </a:r>
            <a:r>
              <a:rPr sz="2700" spc="30" dirty="0">
                <a:solidFill>
                  <a:srgbClr val="CC7518"/>
                </a:solidFill>
                <a:latin typeface="Arial"/>
                <a:cs typeface="Arial"/>
              </a:rPr>
              <a:t> </a:t>
            </a:r>
            <a:r>
              <a:rPr sz="2700" spc="-135" dirty="0">
                <a:solidFill>
                  <a:srgbClr val="CD7205"/>
                </a:solidFill>
                <a:latin typeface="Arial"/>
                <a:cs typeface="Arial"/>
              </a:rPr>
              <a:t>&amp;</a:t>
            </a:r>
            <a:r>
              <a:rPr sz="2700" spc="-225" dirty="0">
                <a:solidFill>
                  <a:srgbClr val="CD7205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D6820F"/>
                </a:solidFill>
                <a:latin typeface="Arial"/>
                <a:cs typeface="Arial"/>
              </a:rPr>
              <a:t>Challenges</a:t>
            </a:r>
            <a:endParaRPr sz="2700">
              <a:latin typeface="Arial"/>
              <a:cs typeface="Arial"/>
            </a:endParaRPr>
          </a:p>
          <a:p>
            <a:pPr marL="21590" marR="5080" indent="-9525">
              <a:lnSpc>
                <a:spcPct val="172800"/>
              </a:lnSpc>
              <a:spcBef>
                <a:spcPts val="285"/>
              </a:spcBef>
              <a:tabLst>
                <a:tab pos="452120" algn="l"/>
                <a:tab pos="2242820" algn="l"/>
                <a:tab pos="2371090" algn="l"/>
                <a:tab pos="3216275" algn="l"/>
              </a:tabLst>
            </a:pPr>
            <a:r>
              <a:rPr sz="2200" spc="-50" dirty="0">
                <a:solidFill>
                  <a:srgbClr val="903F11"/>
                </a:solidFill>
                <a:latin typeface="Calibri"/>
                <a:cs typeface="Calibri"/>
              </a:rPr>
              <a:t>@</a:t>
            </a:r>
            <a:r>
              <a:rPr sz="2200" dirty="0">
                <a:solidFill>
                  <a:srgbClr val="903F11"/>
                </a:solidFill>
                <a:latin typeface="Calibri"/>
                <a:cs typeface="Calibri"/>
              </a:rPr>
              <a:t>	</a:t>
            </a:r>
            <a:r>
              <a:rPr sz="2200" dirty="0">
                <a:solidFill>
                  <a:srgbClr val="95360C"/>
                </a:solidFill>
                <a:latin typeface="Calibri"/>
                <a:cs typeface="Calibri"/>
              </a:rPr>
              <a:t>Network</a:t>
            </a:r>
            <a:r>
              <a:rPr sz="2200" spc="-30" dirty="0">
                <a:solidFill>
                  <a:srgbClr val="95360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3360F"/>
                </a:solidFill>
                <a:latin typeface="Calibri"/>
                <a:cs typeface="Calibri"/>
              </a:rPr>
              <a:t>Dependency:</a:t>
            </a:r>
            <a:r>
              <a:rPr sz="2200" dirty="0">
                <a:solidFill>
                  <a:srgbClr val="83360F"/>
                </a:solidFill>
                <a:latin typeface="Calibri"/>
                <a:cs typeface="Calibri"/>
              </a:rPr>
              <a:t>	</a:t>
            </a:r>
            <a:r>
              <a:rPr sz="2200" dirty="0">
                <a:solidFill>
                  <a:srgbClr val="74443B"/>
                </a:solidFill>
                <a:latin typeface="Calibri"/>
                <a:cs typeface="Calibri"/>
              </a:rPr>
              <a:t>Requires</a:t>
            </a:r>
            <a:r>
              <a:rPr sz="2200" spc="-50" dirty="0">
                <a:solidFill>
                  <a:srgbClr val="74443B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795654"/>
                </a:solidFill>
                <a:latin typeface="Calibri"/>
                <a:cs typeface="Calibri"/>
              </a:rPr>
              <a:t>reliable</a:t>
            </a:r>
            <a:r>
              <a:rPr sz="2200" spc="5" dirty="0">
                <a:solidFill>
                  <a:srgbClr val="795654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755949"/>
                </a:solidFill>
                <a:latin typeface="Calibri"/>
                <a:cs typeface="Calibri"/>
              </a:rPr>
              <a:t>internet</a:t>
            </a:r>
            <a:r>
              <a:rPr sz="2200" spc="10" dirty="0">
                <a:solidFill>
                  <a:srgbClr val="75594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B88566"/>
                </a:solidFill>
                <a:latin typeface="Calibri"/>
                <a:cs typeface="Calibri"/>
              </a:rPr>
              <a:t>connectivity </a:t>
            </a:r>
            <a:r>
              <a:rPr sz="2050" dirty="0">
                <a:solidFill>
                  <a:srgbClr val="93420E"/>
                </a:solidFill>
                <a:latin typeface="Arial"/>
                <a:cs typeface="Arial"/>
              </a:rPr>
              <a:t>@</a:t>
            </a:r>
            <a:r>
              <a:rPr sz="2050" spc="50" dirty="0">
                <a:solidFill>
                  <a:srgbClr val="93420E"/>
                </a:solidFill>
                <a:latin typeface="Arial"/>
                <a:cs typeface="Arial"/>
              </a:rPr>
              <a:t>  </a:t>
            </a:r>
            <a:r>
              <a:rPr sz="2050" dirty="0">
                <a:solidFill>
                  <a:srgbClr val="7E442D"/>
                </a:solidFill>
                <a:latin typeface="Arial"/>
                <a:cs typeface="Arial"/>
              </a:rPr>
              <a:t>Cyber</a:t>
            </a:r>
            <a:r>
              <a:rPr sz="2050" spc="-5" dirty="0">
                <a:solidFill>
                  <a:srgbClr val="7E442D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7C421A"/>
                </a:solidFill>
                <a:latin typeface="Arial"/>
                <a:cs typeface="Arial"/>
              </a:rPr>
              <a:t>Threats:</a:t>
            </a:r>
            <a:r>
              <a:rPr sz="2050" dirty="0">
                <a:solidFill>
                  <a:srgbClr val="7C421A"/>
                </a:solidFill>
                <a:latin typeface="Arial"/>
                <a:cs typeface="Arial"/>
              </a:rPr>
              <a:t>		</a:t>
            </a:r>
            <a:r>
              <a:rPr sz="2050" spc="-40" dirty="0">
                <a:solidFill>
                  <a:srgbClr val="805238"/>
                </a:solidFill>
                <a:latin typeface="Arial"/>
                <a:cs typeface="Arial"/>
              </a:rPr>
              <a:t>Requires</a:t>
            </a:r>
            <a:r>
              <a:rPr sz="2050" spc="-75" dirty="0">
                <a:solidFill>
                  <a:srgbClr val="805238"/>
                </a:solidFill>
                <a:latin typeface="Arial"/>
                <a:cs typeface="Arial"/>
              </a:rPr>
              <a:t> </a:t>
            </a:r>
            <a:r>
              <a:rPr sz="2050" spc="-65" dirty="0">
                <a:solidFill>
                  <a:srgbClr val="953D0F"/>
                </a:solidFill>
                <a:latin typeface="Arial"/>
                <a:cs typeface="Arial"/>
              </a:rPr>
              <a:t>advanced</a:t>
            </a:r>
            <a:r>
              <a:rPr sz="2050" spc="-60" dirty="0">
                <a:solidFill>
                  <a:srgbClr val="953D0F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7B4423"/>
                </a:solidFill>
                <a:latin typeface="Arial"/>
                <a:cs typeface="Arial"/>
              </a:rPr>
              <a:t>DDoS/threat</a:t>
            </a:r>
            <a:r>
              <a:rPr sz="2050" spc="65" dirty="0">
                <a:solidFill>
                  <a:srgbClr val="7B4423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7E4B33"/>
                </a:solidFill>
                <a:latin typeface="Arial"/>
                <a:cs typeface="Arial"/>
              </a:rPr>
              <a:t>protections</a:t>
            </a:r>
            <a:r>
              <a:rPr sz="2050" spc="509" dirty="0">
                <a:solidFill>
                  <a:srgbClr val="7E4B33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97491A"/>
                </a:solidFill>
                <a:latin typeface="Arial"/>
                <a:cs typeface="Arial"/>
              </a:rPr>
              <a:t>&amp;</a:t>
            </a:r>
            <a:r>
              <a:rPr sz="2050" dirty="0">
                <a:solidFill>
                  <a:srgbClr val="97491A"/>
                </a:solidFill>
                <a:latin typeface="Arial"/>
                <a:cs typeface="Arial"/>
              </a:rPr>
              <a:t>	</a:t>
            </a:r>
            <a:r>
              <a:rPr sz="2050" dirty="0">
                <a:solidFill>
                  <a:srgbClr val="9A4118"/>
                </a:solidFill>
                <a:latin typeface="Arial"/>
                <a:cs typeface="Arial"/>
              </a:rPr>
              <a:t>Digital</a:t>
            </a:r>
            <a:r>
              <a:rPr sz="2050" spc="-25" dirty="0">
                <a:solidFill>
                  <a:srgbClr val="9A4118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9C420E"/>
                </a:solidFill>
                <a:latin typeface="Arial"/>
                <a:cs typeface="Arial"/>
              </a:rPr>
              <a:t>Divide:</a:t>
            </a:r>
            <a:r>
              <a:rPr sz="2050" dirty="0">
                <a:solidFill>
                  <a:srgbClr val="9C420E"/>
                </a:solidFill>
                <a:latin typeface="Arial"/>
                <a:cs typeface="Arial"/>
              </a:rPr>
              <a:t>	</a:t>
            </a:r>
            <a:r>
              <a:rPr sz="2050" spc="-35" dirty="0">
                <a:solidFill>
                  <a:srgbClr val="854811"/>
                </a:solidFill>
                <a:latin typeface="Arial"/>
                <a:cs typeface="Arial"/>
              </a:rPr>
              <a:t>Non-</a:t>
            </a:r>
            <a:r>
              <a:rPr sz="2050" dirty="0">
                <a:solidFill>
                  <a:srgbClr val="854811"/>
                </a:solidFill>
                <a:latin typeface="Arial"/>
                <a:cs typeface="Arial"/>
              </a:rPr>
              <a:t>technical</a:t>
            </a:r>
            <a:r>
              <a:rPr sz="2050" spc="-25" dirty="0">
                <a:solidFill>
                  <a:srgbClr val="854811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A37046"/>
                </a:solidFill>
                <a:latin typeface="Arial"/>
                <a:cs typeface="Arial"/>
              </a:rPr>
              <a:t>users</a:t>
            </a:r>
            <a:r>
              <a:rPr sz="2050" spc="-75" dirty="0">
                <a:solidFill>
                  <a:srgbClr val="A37046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745236"/>
                </a:solidFill>
                <a:latin typeface="Arial"/>
                <a:cs typeface="Arial"/>
              </a:rPr>
              <a:t>need</a:t>
            </a:r>
            <a:r>
              <a:rPr sz="2050" spc="-120" dirty="0">
                <a:solidFill>
                  <a:srgbClr val="745236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CC9E7E"/>
                </a:solidFill>
                <a:latin typeface="Arial"/>
                <a:cs typeface="Arial"/>
              </a:rPr>
              <a:t>simple</a:t>
            </a:r>
            <a:r>
              <a:rPr sz="2050" spc="-80" dirty="0">
                <a:solidFill>
                  <a:srgbClr val="CC9E7E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80493B"/>
                </a:solidFill>
                <a:latin typeface="Arial"/>
                <a:cs typeface="Arial"/>
              </a:rPr>
              <a:t>interfaces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51003" y="959129"/>
            <a:ext cx="2835910" cy="320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spc="195" dirty="0">
                <a:solidFill>
                  <a:srgbClr val="3A6BC4"/>
                </a:solidFill>
                <a:latin typeface="Calibri"/>
                <a:cs typeface="Calibri"/>
              </a:rPr>
              <a:t>SUM</a:t>
            </a:r>
            <a:r>
              <a:rPr sz="1900" spc="195" dirty="0">
                <a:solidFill>
                  <a:srgbClr val="2469F2"/>
                </a:solidFill>
                <a:latin typeface="Calibri"/>
                <a:cs typeface="Calibri"/>
              </a:rPr>
              <a:t>MARY</a:t>
            </a:r>
            <a:r>
              <a:rPr sz="1900" spc="240" dirty="0">
                <a:solidFill>
                  <a:srgbClr val="2469F2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85BDD"/>
                </a:solidFill>
                <a:latin typeface="Calibri"/>
                <a:cs typeface="Calibri"/>
              </a:rPr>
              <a:t>&amp;</a:t>
            </a:r>
            <a:r>
              <a:rPr sz="1900" spc="120" dirty="0">
                <a:solidFill>
                  <a:srgbClr val="185BDD"/>
                </a:solidFill>
                <a:latin typeface="Calibri"/>
                <a:cs typeface="Calibri"/>
              </a:rPr>
              <a:t> </a:t>
            </a:r>
            <a:r>
              <a:rPr sz="1900" spc="185" dirty="0">
                <a:solidFill>
                  <a:srgbClr val="2B5DE1"/>
                </a:solidFill>
                <a:latin typeface="Calibri"/>
                <a:cs typeface="Calibri"/>
              </a:rPr>
              <a:t>ROAD</a:t>
            </a:r>
            <a:r>
              <a:rPr sz="1900" spc="185" dirty="0">
                <a:solidFill>
                  <a:srgbClr val="1A69F4"/>
                </a:solidFill>
                <a:latin typeface="Calibri"/>
                <a:cs typeface="Calibri"/>
              </a:rPr>
              <a:t>MAP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pc="135" dirty="0"/>
              <a:t>Conclusion</a:t>
            </a:r>
            <a:r>
              <a:rPr spc="-125" dirty="0"/>
              <a:t> </a:t>
            </a:r>
            <a:r>
              <a:rPr spc="-285" dirty="0">
                <a:solidFill>
                  <a:srgbClr val="0C162F"/>
                </a:solidFill>
              </a:rPr>
              <a:t>&amp;</a:t>
            </a:r>
            <a:r>
              <a:rPr spc="-350" dirty="0">
                <a:solidFill>
                  <a:srgbClr val="0C162F"/>
                </a:solidFill>
              </a:rPr>
              <a:t> </a:t>
            </a:r>
            <a:r>
              <a:rPr dirty="0">
                <a:solidFill>
                  <a:srgbClr val="1A1A1A"/>
                </a:solidFill>
              </a:rPr>
              <a:t>Future</a:t>
            </a:r>
            <a:r>
              <a:rPr spc="-50" dirty="0">
                <a:solidFill>
                  <a:srgbClr val="1A1A1A"/>
                </a:solidFill>
              </a:rPr>
              <a:t> </a:t>
            </a:r>
            <a:r>
              <a:rPr spc="160" dirty="0">
                <a:solidFill>
                  <a:srgbClr val="181818"/>
                </a:solidFill>
              </a:rPr>
              <a:t>Scope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29794" y="2823600"/>
            <a:ext cx="7462520" cy="2103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50" dirty="0">
                <a:solidFill>
                  <a:srgbClr val="151515"/>
                </a:solidFill>
                <a:latin typeface="Calibri"/>
                <a:cs typeface="Calibri"/>
              </a:rPr>
              <a:t>Project</a:t>
            </a:r>
            <a:r>
              <a:rPr sz="2800" spc="8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800" spc="70" dirty="0">
                <a:solidFill>
                  <a:srgbClr val="080808"/>
                </a:solidFill>
                <a:latin typeface="Calibri"/>
                <a:cs typeface="Calibri"/>
              </a:rPr>
              <a:t>Conclusion</a:t>
            </a:r>
            <a:endParaRPr sz="2800">
              <a:latin typeface="Calibri"/>
              <a:cs typeface="Calibri"/>
            </a:endParaRPr>
          </a:p>
          <a:p>
            <a:pPr marL="15240" marR="5080" indent="17145">
              <a:lnSpc>
                <a:spcPct val="120700"/>
              </a:lnSpc>
              <a:spcBef>
                <a:spcPts val="1085"/>
              </a:spcBef>
            </a:pPr>
            <a:r>
              <a:rPr sz="2050" dirty="0">
                <a:solidFill>
                  <a:srgbClr val="545454"/>
                </a:solidFill>
                <a:latin typeface="Calibri"/>
                <a:cs typeface="Calibri"/>
              </a:rPr>
              <a:t>The</a:t>
            </a:r>
            <a:r>
              <a:rPr sz="2050" spc="18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14141"/>
                </a:solidFill>
                <a:latin typeface="Calibri"/>
                <a:cs typeface="Calibri"/>
              </a:rPr>
              <a:t>project</a:t>
            </a:r>
            <a:r>
              <a:rPr sz="2050" spc="26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050" spc="90" dirty="0">
                <a:solidFill>
                  <a:srgbClr val="3F3F3F"/>
                </a:solidFill>
                <a:latin typeface="Calibri"/>
                <a:cs typeface="Calibri"/>
              </a:rPr>
              <a:t>successfully</a:t>
            </a:r>
            <a:r>
              <a:rPr sz="2050" spc="3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44444"/>
                </a:solidFill>
                <a:latin typeface="Calibri"/>
                <a:cs typeface="Calibri"/>
              </a:rPr>
              <a:t>demonstrates</a:t>
            </a:r>
            <a:r>
              <a:rPr sz="2050" spc="3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505050"/>
                </a:solidFill>
                <a:latin typeface="Calibri"/>
                <a:cs typeface="Calibri"/>
              </a:rPr>
              <a:t>how</a:t>
            </a:r>
            <a:r>
              <a:rPr sz="2050" spc="229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050" spc="50" dirty="0">
                <a:solidFill>
                  <a:srgbClr val="3D3D3D"/>
                </a:solidFill>
                <a:latin typeface="Calibri"/>
                <a:cs typeface="Calibri"/>
              </a:rPr>
              <a:t>cloud</a:t>
            </a:r>
            <a:r>
              <a:rPr sz="2050" spc="204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F3F3F"/>
                </a:solidFill>
                <a:latin typeface="Calibri"/>
                <a:cs typeface="Calibri"/>
              </a:rPr>
              <a:t>computing</a:t>
            </a:r>
            <a:r>
              <a:rPr sz="2050" spc="3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spc="-25" dirty="0">
                <a:solidFill>
                  <a:srgbClr val="859AB5"/>
                </a:solidFill>
                <a:latin typeface="Calibri"/>
                <a:cs typeface="Calibri"/>
              </a:rPr>
              <a:t>and </a:t>
            </a:r>
            <a:r>
              <a:rPr sz="2050" dirty="0">
                <a:solidFill>
                  <a:srgbClr val="42546D"/>
                </a:solidFill>
                <a:latin typeface="Calibri"/>
                <a:cs typeface="Calibri"/>
              </a:rPr>
              <a:t>web</a:t>
            </a:r>
            <a:r>
              <a:rPr sz="2050" spc="114" dirty="0">
                <a:solidFill>
                  <a:srgbClr val="42546D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F3F3F"/>
                </a:solidFill>
                <a:latin typeface="Calibri"/>
                <a:cs typeface="Calibri"/>
              </a:rPr>
              <a:t>technologies</a:t>
            </a:r>
            <a:r>
              <a:rPr sz="2050" spc="40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spc="55" dirty="0">
                <a:solidFill>
                  <a:srgbClr val="3F3F3F"/>
                </a:solidFill>
                <a:latin typeface="Calibri"/>
                <a:cs typeface="Calibri"/>
              </a:rPr>
              <a:t>can</a:t>
            </a:r>
            <a:r>
              <a:rPr sz="2050" spc="1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F3F3F"/>
                </a:solidFill>
                <a:latin typeface="Calibri"/>
                <a:cs typeface="Calibri"/>
              </a:rPr>
              <a:t>transform</a:t>
            </a:r>
            <a:r>
              <a:rPr sz="2050" spc="1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F4F4F"/>
                </a:solidFill>
                <a:latin typeface="Calibri"/>
                <a:cs typeface="Calibri"/>
              </a:rPr>
              <a:t>traditional</a:t>
            </a:r>
            <a:r>
              <a:rPr sz="2050" spc="29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D3D3D"/>
                </a:solidFill>
                <a:latin typeface="Calibri"/>
                <a:cs typeface="Calibri"/>
              </a:rPr>
              <a:t>voting.</a:t>
            </a:r>
            <a:r>
              <a:rPr sz="2050" spc="22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D3D3D"/>
                </a:solidFill>
                <a:latin typeface="Calibri"/>
                <a:cs typeface="Calibri"/>
              </a:rPr>
              <a:t>Automated</a:t>
            </a:r>
            <a:r>
              <a:rPr sz="2050" spc="23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3F3F3F"/>
                </a:solidFill>
                <a:latin typeface="Calibri"/>
                <a:cs typeface="Calibri"/>
              </a:rPr>
              <a:t>vote </a:t>
            </a:r>
            <a:r>
              <a:rPr sz="2050" dirty="0">
                <a:solidFill>
                  <a:srgbClr val="4F4F4F"/>
                </a:solidFill>
                <a:latin typeface="Calibri"/>
                <a:cs typeface="Calibri"/>
              </a:rPr>
              <a:t>counting,</a:t>
            </a:r>
            <a:r>
              <a:rPr sz="2050" spc="26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050" spc="75" dirty="0">
                <a:solidFill>
                  <a:srgbClr val="778CA1"/>
                </a:solidFill>
                <a:latin typeface="Calibri"/>
                <a:cs typeface="Calibri"/>
              </a:rPr>
              <a:t>OTP</a:t>
            </a:r>
            <a:r>
              <a:rPr sz="2050" spc="325" dirty="0">
                <a:solidFill>
                  <a:srgbClr val="778CA1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F3F3F"/>
                </a:solidFill>
                <a:latin typeface="Calibri"/>
                <a:cs typeface="Calibri"/>
              </a:rPr>
              <a:t>verification,</a:t>
            </a:r>
            <a:r>
              <a:rPr sz="2050" spc="3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6E8CAC"/>
                </a:solidFill>
                <a:latin typeface="Calibri"/>
                <a:cs typeface="Calibri"/>
              </a:rPr>
              <a:t>and</a:t>
            </a:r>
            <a:r>
              <a:rPr sz="2050" spc="200" dirty="0">
                <a:solidFill>
                  <a:srgbClr val="6E8CAC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94949"/>
                </a:solidFill>
                <a:latin typeface="Calibri"/>
                <a:cs typeface="Calibri"/>
              </a:rPr>
              <a:t>AWS</a:t>
            </a:r>
            <a:r>
              <a:rPr sz="2050" spc="3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14141"/>
                </a:solidFill>
                <a:latin typeface="Calibri"/>
                <a:cs typeface="Calibri"/>
              </a:rPr>
              <a:t>integration</a:t>
            </a:r>
            <a:r>
              <a:rPr sz="2050" spc="36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64646"/>
                </a:solidFill>
                <a:latin typeface="Calibri"/>
                <a:cs typeface="Calibri"/>
              </a:rPr>
              <a:t>ensure</a:t>
            </a:r>
            <a:r>
              <a:rPr sz="2050" spc="3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050" spc="60" dirty="0">
                <a:solidFill>
                  <a:srgbClr val="3F3F3F"/>
                </a:solidFill>
                <a:latin typeface="Calibri"/>
                <a:cs typeface="Calibri"/>
              </a:rPr>
              <a:t>secure, </a:t>
            </a:r>
            <a:r>
              <a:rPr sz="2050" dirty="0">
                <a:solidFill>
                  <a:srgbClr val="505B77"/>
                </a:solidFill>
                <a:latin typeface="Calibri"/>
                <a:cs typeface="Calibri"/>
              </a:rPr>
              <a:t>rapid,</a:t>
            </a:r>
            <a:r>
              <a:rPr sz="2050" spc="195" dirty="0">
                <a:solidFill>
                  <a:srgbClr val="505B77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F4F4F"/>
                </a:solidFill>
                <a:latin typeface="Calibri"/>
                <a:cs typeface="Calibri"/>
              </a:rPr>
              <a:t>and</a:t>
            </a:r>
            <a:r>
              <a:rPr sz="2050" spc="16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64646"/>
                </a:solidFill>
                <a:latin typeface="Calibri"/>
                <a:cs typeface="Calibri"/>
              </a:rPr>
              <a:t>transparent</a:t>
            </a:r>
            <a:r>
              <a:rPr sz="2050" spc="3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44444"/>
                </a:solidFill>
                <a:latin typeface="Calibri"/>
                <a:cs typeface="Calibri"/>
              </a:rPr>
              <a:t>election</a:t>
            </a:r>
            <a:r>
              <a:rPr sz="2050" spc="2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4B4B4B"/>
                </a:solidFill>
                <a:latin typeface="Calibri"/>
                <a:cs typeface="Calibri"/>
              </a:rPr>
              <a:t>management.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5267" y="2591809"/>
            <a:ext cx="6329680" cy="2334895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950" spc="-50" dirty="0">
                <a:solidFill>
                  <a:srgbClr val="151515"/>
                </a:solidFill>
                <a:latin typeface="Calibri"/>
                <a:cs typeface="Calibri"/>
              </a:rPr>
              <a:t>Future</a:t>
            </a:r>
            <a:r>
              <a:rPr sz="2950" spc="-7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2950" spc="-10" dirty="0">
                <a:solidFill>
                  <a:srgbClr val="161616"/>
                </a:solidFill>
                <a:latin typeface="Calibri"/>
                <a:cs typeface="Calibri"/>
              </a:rPr>
              <a:t>Enhancements</a:t>
            </a:r>
            <a:endParaRPr sz="2950">
              <a:latin typeface="Calibri"/>
              <a:cs typeface="Calibri"/>
            </a:endParaRPr>
          </a:p>
          <a:p>
            <a:pPr marL="296545" indent="-269240">
              <a:lnSpc>
                <a:spcPct val="100000"/>
              </a:lnSpc>
              <a:spcBef>
                <a:spcPts val="1190"/>
              </a:spcBef>
              <a:buClr>
                <a:srgbClr val="49596B"/>
              </a:buClr>
              <a:buChar char="•"/>
              <a:tabLst>
                <a:tab pos="296545" algn="l"/>
              </a:tabLst>
            </a:pPr>
            <a:r>
              <a:rPr sz="2050" dirty="0">
                <a:solidFill>
                  <a:srgbClr val="494949"/>
                </a:solidFill>
                <a:latin typeface="Calibri"/>
                <a:cs typeface="Calibri"/>
              </a:rPr>
              <a:t>Biometric</a:t>
            </a:r>
            <a:r>
              <a:rPr sz="2050" spc="1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3F3F3F"/>
                </a:solidFill>
                <a:latin typeface="Calibri"/>
                <a:cs typeface="Calibri"/>
              </a:rPr>
              <a:t>Verification:</a:t>
            </a:r>
            <a:r>
              <a:rPr sz="2050" spc="24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050" spc="-50" dirty="0">
                <a:solidFill>
                  <a:srgbClr val="424242"/>
                </a:solidFill>
                <a:latin typeface="Calibri"/>
                <a:cs typeface="Calibri"/>
              </a:rPr>
              <a:t>Facial/fingerprint</a:t>
            </a:r>
            <a:r>
              <a:rPr sz="2050" spc="8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464646"/>
                </a:solidFill>
                <a:latin typeface="Calibri"/>
                <a:cs typeface="Calibri"/>
              </a:rPr>
              <a:t>matching</a:t>
            </a:r>
            <a:endParaRPr sz="2050">
              <a:latin typeface="Calibri"/>
              <a:cs typeface="Calibri"/>
            </a:endParaRPr>
          </a:p>
          <a:p>
            <a:pPr marL="296545" indent="-269240">
              <a:lnSpc>
                <a:spcPct val="100000"/>
              </a:lnSpc>
              <a:spcBef>
                <a:spcPts val="635"/>
              </a:spcBef>
              <a:buClr>
                <a:srgbClr val="46576B"/>
              </a:buClr>
              <a:buChar char="•"/>
              <a:tabLst>
                <a:tab pos="296545" algn="l"/>
              </a:tabLst>
            </a:pPr>
            <a:r>
              <a:rPr sz="2050" dirty="0">
                <a:solidFill>
                  <a:srgbClr val="414141"/>
                </a:solidFill>
                <a:latin typeface="Calibri"/>
                <a:cs typeface="Calibri"/>
              </a:rPr>
              <a:t>Blockchain</a:t>
            </a:r>
            <a:r>
              <a:rPr sz="2050" spc="-9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B4B4B"/>
                </a:solidFill>
                <a:latin typeface="Calibri"/>
                <a:cs typeface="Calibri"/>
              </a:rPr>
              <a:t>Integration:</a:t>
            </a:r>
            <a:r>
              <a:rPr sz="2050" spc="16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050" spc="-70" dirty="0">
                <a:solidFill>
                  <a:srgbClr val="4F4F4F"/>
                </a:solidFill>
                <a:latin typeface="Calibri"/>
                <a:cs typeface="Calibri"/>
              </a:rPr>
              <a:t>Immutable</a:t>
            </a:r>
            <a:r>
              <a:rPr sz="2050" spc="12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24242"/>
                </a:solidFill>
                <a:latin typeface="Calibri"/>
                <a:cs typeface="Calibri"/>
              </a:rPr>
              <a:t>ledger</a:t>
            </a:r>
            <a:r>
              <a:rPr sz="2050" spc="8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50" spc="-50" dirty="0">
                <a:solidFill>
                  <a:srgbClr val="798A95"/>
                </a:solidFill>
                <a:latin typeface="Calibri"/>
                <a:cs typeface="Calibri"/>
              </a:rPr>
              <a:t>audit</a:t>
            </a:r>
            <a:r>
              <a:rPr sz="2050" spc="145" dirty="0">
                <a:solidFill>
                  <a:srgbClr val="798A95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424242"/>
                </a:solidFill>
                <a:latin typeface="Calibri"/>
                <a:cs typeface="Calibri"/>
              </a:rPr>
              <a:t>trail</a:t>
            </a:r>
            <a:endParaRPr sz="2050">
              <a:latin typeface="Calibri"/>
              <a:cs typeface="Calibri"/>
            </a:endParaRPr>
          </a:p>
          <a:p>
            <a:pPr marL="296545" indent="-269240">
              <a:lnSpc>
                <a:spcPct val="100000"/>
              </a:lnSpc>
              <a:spcBef>
                <a:spcPts val="630"/>
              </a:spcBef>
              <a:buClr>
                <a:srgbClr val="445469"/>
              </a:buClr>
              <a:buChar char="•"/>
              <a:tabLst>
                <a:tab pos="296545" algn="l"/>
              </a:tabLst>
            </a:pPr>
            <a:r>
              <a:rPr sz="2050" dirty="0">
                <a:solidFill>
                  <a:srgbClr val="545454"/>
                </a:solidFill>
                <a:latin typeface="Calibri"/>
                <a:cs typeface="Calibri"/>
              </a:rPr>
              <a:t>Native</a:t>
            </a:r>
            <a:r>
              <a:rPr sz="2050" spc="-14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4B4B4B"/>
                </a:solidFill>
                <a:latin typeface="Calibri"/>
                <a:cs typeface="Calibri"/>
              </a:rPr>
              <a:t>Mobile</a:t>
            </a:r>
            <a:r>
              <a:rPr sz="2050" spc="-5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B4B4B"/>
                </a:solidFill>
                <a:latin typeface="Calibri"/>
                <a:cs typeface="Calibri"/>
              </a:rPr>
              <a:t>App:</a:t>
            </a:r>
            <a:r>
              <a:rPr sz="2050" spc="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050" spc="-45" dirty="0">
                <a:solidFill>
                  <a:srgbClr val="444444"/>
                </a:solidFill>
                <a:latin typeface="Calibri"/>
                <a:cs typeface="Calibri"/>
              </a:rPr>
              <a:t>iOS/Android</a:t>
            </a:r>
            <a:r>
              <a:rPr sz="2050" spc="1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7C8CA1"/>
                </a:solidFill>
                <a:latin typeface="Calibri"/>
                <a:cs typeface="Calibri"/>
              </a:rPr>
              <a:t>app</a:t>
            </a:r>
            <a:r>
              <a:rPr sz="2050" spc="100" dirty="0">
                <a:solidFill>
                  <a:srgbClr val="7C8CA1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4B4B4B"/>
                </a:solidFill>
                <a:latin typeface="Calibri"/>
                <a:cs typeface="Calibri"/>
              </a:rPr>
              <a:t>deployment</a:t>
            </a:r>
            <a:endParaRPr sz="2050">
              <a:latin typeface="Calibri"/>
              <a:cs typeface="Calibri"/>
            </a:endParaRPr>
          </a:p>
          <a:p>
            <a:pPr marL="296545" indent="-269240">
              <a:lnSpc>
                <a:spcPct val="100000"/>
              </a:lnSpc>
              <a:spcBef>
                <a:spcPts val="630"/>
              </a:spcBef>
              <a:buClr>
                <a:srgbClr val="465266"/>
              </a:buClr>
              <a:buChar char="•"/>
              <a:tabLst>
                <a:tab pos="296545" algn="l"/>
              </a:tabLst>
            </a:pPr>
            <a:r>
              <a:rPr sz="2050" dirty="0">
                <a:solidFill>
                  <a:srgbClr val="4B4B4B"/>
                </a:solidFill>
                <a:latin typeface="Calibri"/>
                <a:cs typeface="Calibri"/>
              </a:rPr>
              <a:t>Multi-Factor</a:t>
            </a:r>
            <a:r>
              <a:rPr sz="2050" spc="2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B4B4B"/>
                </a:solidFill>
                <a:latin typeface="Calibri"/>
                <a:cs typeface="Calibri"/>
              </a:rPr>
              <a:t>Auth:</a:t>
            </a:r>
            <a:r>
              <a:rPr sz="2050" spc="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050" dirty="0">
                <a:solidFill>
                  <a:srgbClr val="444444"/>
                </a:solidFill>
                <a:latin typeface="Calibri"/>
                <a:cs typeface="Calibri"/>
              </a:rPr>
              <a:t>Advanced</a:t>
            </a:r>
            <a:r>
              <a:rPr sz="2050" spc="1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050" spc="-65" dirty="0">
                <a:solidFill>
                  <a:srgbClr val="424242"/>
                </a:solidFill>
                <a:latin typeface="Calibri"/>
                <a:cs typeface="Calibri"/>
              </a:rPr>
              <a:t>threat</a:t>
            </a:r>
            <a:r>
              <a:rPr sz="2050" spc="1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050" spc="-20" dirty="0">
                <a:solidFill>
                  <a:srgbClr val="3B3B3B"/>
                </a:solidFill>
                <a:latin typeface="Calibri"/>
                <a:cs typeface="Calibri"/>
              </a:rPr>
              <a:t>defense</a:t>
            </a:r>
            <a:r>
              <a:rPr sz="2050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3D3D3D"/>
                </a:solidFill>
                <a:latin typeface="Calibri"/>
                <a:cs typeface="Calibri"/>
              </a:rPr>
              <a:t>mechanisms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240799" y="8921194"/>
            <a:ext cx="17614900" cy="139001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187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10"/>
              </a:spcBef>
            </a:pPr>
            <a:r>
              <a:rPr sz="4350" spc="250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43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350" spc="21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550" spc="215" dirty="0">
                <a:solidFill>
                  <a:srgbClr val="FFFFFF"/>
                </a:solidFill>
                <a:latin typeface="Calibri"/>
                <a:cs typeface="Calibri"/>
              </a:rPr>
              <a:t>!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775</Words>
  <Application>Microsoft Office PowerPoint</Application>
  <PresentationFormat>Custom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Times New Roman</vt:lpstr>
      <vt:lpstr>Office Theme</vt:lpstr>
      <vt:lpstr>Cloud-Based</vt:lpstr>
      <vt:lpstr>Introduction &amp; Objectives</vt:lpstr>
      <vt:lpstr>Existing vs. Proposed Solution</vt:lpstr>
      <vt:lpstr>AWS Cloud Architecture</vt:lpstr>
      <vt:lpstr>Proposed Methods &amp; Capabilities</vt:lpstr>
      <vt:lpstr>Core Execution Algorithms</vt:lpstr>
      <vt:lpstr>Frontend Implementation Highlights</vt:lpstr>
      <vt:lpstr>System Execution Screens</vt:lpstr>
      <vt:lpstr>System Analysis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S0677703</cp:lastModifiedBy>
  <cp:revision>1</cp:revision>
  <dcterms:created xsi:type="dcterms:W3CDTF">2026-10-22T04:49:02Z</dcterms:created>
  <dcterms:modified xsi:type="dcterms:W3CDTF">2026-10-22T04:50:19Z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LastSaved">
    <vt:filetime>2026-10-22T00:00:00Z</vt:filetime>
  </property>
</Properties>
</file>